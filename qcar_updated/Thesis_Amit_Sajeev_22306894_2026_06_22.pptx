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Layouts/slideLayout3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</p:sldMasterIdLst>
  <p:notesMasterIdLst>
    <p:notesMasterId r:id="rId1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926638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384490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  <a:endParaRPr/>
          </a:p>
        </p:txBody>
      </p:sp>
      <p:sp>
        <p:nvSpPr>
          <p:cNvPr id="725312206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r>
              <a:rPr lang="en-US" sz="2000" b="0" strike="noStrike" spc="-1">
                <a:latin typeface="Arial"/>
              </a:rPr>
              <a:t>Click to edit the notes format</a:t>
            </a:r>
            <a:endParaRPr/>
          </a:p>
        </p:txBody>
      </p:sp>
      <p:sp>
        <p:nvSpPr>
          <p:cNvPr id="70030380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r>
              <a:rPr lang="en-US" sz="1400" b="0" strike="noStrike" spc="-1">
                <a:latin typeface="Times New Roman"/>
              </a:rPr>
              <a:t>&lt;header&gt;</a:t>
            </a:r>
            <a:endParaRPr/>
          </a:p>
        </p:txBody>
      </p:sp>
      <p:sp>
        <p:nvSpPr>
          <p:cNvPr id="1141561030" name="PlaceHolder 4"/>
          <p:cNvSpPr>
            <a:spLocks noGrp="1"/>
          </p:cNvSpPr>
          <p:nvPr>
            <p:ph type="dt" idx="1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r>
              <a:rPr lang="en-US" sz="1400" b="0" strike="noStrike" spc="-1">
                <a:latin typeface="Times New Roman"/>
              </a:rPr>
              <a:t>&lt;date/time&gt;</a:t>
            </a:r>
            <a:endParaRPr/>
          </a:p>
        </p:txBody>
      </p:sp>
      <p:sp>
        <p:nvSpPr>
          <p:cNvPr id="1452972019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pPr>
              <a:defRPr/>
            </a:pPr>
            <a:r>
              <a:rPr lang="en-US" sz="1400" b="0" strike="noStrike" spc="-1">
                <a:latin typeface="Times New Roman"/>
              </a:rPr>
              <a:t>&lt;footer&gt;</a:t>
            </a:r>
            <a:endParaRPr/>
          </a:p>
        </p:txBody>
      </p:sp>
      <p:sp>
        <p:nvSpPr>
          <p:cNvPr id="223402810" name="PlaceHolder 6"/>
          <p:cNvSpPr>
            <a:spLocks noGrp="1"/>
          </p:cNvSpPr>
          <p:nvPr>
            <p:ph type="sldNum" idx="3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  <a:defRPr/>
            </a:pPr>
            <a:fld id="{777FE32E-ED86-49EC-A516-F02A76EA049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761093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452520" y="1241280"/>
            <a:ext cx="5952600" cy="3349440"/>
          </a:xfrm>
          <a:prstGeom prst="rect">
            <a:avLst/>
          </a:prstGeom>
          <a:ln w="0">
            <a:noFill/>
          </a:ln>
        </p:spPr>
      </p:sp>
      <p:sp>
        <p:nvSpPr>
          <p:cNvPr id="4657154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463977557" name="TextShape 3"/>
          <p:cNvSpPr/>
          <p:nvPr/>
        </p:nvSpPr>
        <p:spPr bwMode="auto"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F0DB6A2E-F339-44AF-8DC4-202798E4A9D6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750062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200954292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323687238" name="TextShape 3"/>
          <p:cNvSpPr/>
          <p:nvPr/>
        </p:nvSpPr>
        <p:spPr bwMode="auto"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0F50CD21-D434-459E-B518-E74E3BC49C8C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702899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55595792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1967588154" name="TextShape 3"/>
          <p:cNvSpPr/>
          <p:nvPr/>
        </p:nvSpPr>
        <p:spPr bwMode="auto"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3109C7D7-B57E-4A16-85A9-67BAFCC46B6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009875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15658307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2044968965" name="TextShape 3"/>
          <p:cNvSpPr/>
          <p:nvPr/>
        </p:nvSpPr>
        <p:spPr bwMode="auto"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5D2B79E3-BB72-4968-A5DE-13487B6F4E6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818480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18546698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7161933" name="TextShape 3"/>
          <p:cNvSpPr/>
          <p:nvPr/>
        </p:nvSpPr>
        <p:spPr bwMode="auto"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EB634002-52EB-431B-9343-C59E0005E4D0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894688" name="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452438" y="1241425"/>
            <a:ext cx="5953125" cy="3349625"/>
          </a:xfrm>
          <a:prstGeom prst="rect">
            <a:avLst/>
          </a:prstGeom>
          <a:ln w="0">
            <a:noFill/>
          </a:ln>
        </p:spPr>
      </p:sp>
      <p:sp>
        <p:nvSpPr>
          <p:cNvPr id="51727908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777200"/>
            <a:ext cx="5485680" cy="39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/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871378842" name="TextShape 3"/>
          <p:cNvSpPr/>
          <p:nvPr/>
        </p:nvSpPr>
        <p:spPr bwMode="auto">
          <a:xfrm>
            <a:off x="3884760" y="9428760"/>
            <a:ext cx="2971080" cy="497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5D3E5099-DA53-431E-A77A-67BF0FC9A496}" type="slidenum">
              <a:rPr lang="de-DE" sz="12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65185B-034E-2976-1C0E-489992B7B2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494960-18CB-8685-1280-7011FE833A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6F6765-5B26-57A8-6228-080A9D0073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03EDB-80E9-C13E-72D3-CA1DF98308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00690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38498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79819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4771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5173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47238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14334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85723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93797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6988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17811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80589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92848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8388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06995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65599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793916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31679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438855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99424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76997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55464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346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641936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6405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43489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429584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55371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25156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86447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8652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869604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778962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871616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412334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267985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68444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62247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544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23195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78499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4095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62375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20401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440064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01810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69133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41905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84247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2834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15907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20407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519320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92417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59145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57240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085370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8151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84110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750797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69099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46238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10463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79340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2890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91205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74180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475456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509450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879083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737751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810115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7381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8747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98275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09015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5087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38615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8891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50689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220119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29983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38909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439525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42705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1189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0725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198415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891146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98993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78383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16120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085647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6213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47075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3607009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3325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0423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25021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18964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020544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4647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5180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014685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334290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054494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727433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529664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4.png"/><Relationship Id="rId15" Type="http://schemas.openxmlformats.org/officeDocument/2006/relationships/image" Target="../media/image3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4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5706334" name="Grafik 2"/>
          <p:cNvPicPr/>
          <p:nvPr/>
        </p:nvPicPr>
        <p:blipFill rotWithShape="1">
          <a:blip r:embed="rId14"/>
          <a:stretch/>
        </p:blipFill>
        <p:spPr bwMode="auto">
          <a:xfrm>
            <a:off x="533160" y="62334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22971204" name="Grafik 1"/>
          <p:cNvPicPr/>
          <p:nvPr/>
        </p:nvPicPr>
        <p:blipFill rotWithShape="1">
          <a:blip r:embed="rId15"/>
          <a:stretch/>
        </p:blipFill>
        <p:spPr bwMode="auto">
          <a:xfrm>
            <a:off x="10248840" y="424800"/>
            <a:ext cx="1426680" cy="248040"/>
          </a:xfrm>
          <a:prstGeom prst="rect">
            <a:avLst/>
          </a:prstGeom>
          <a:ln w="0">
            <a:noFill/>
          </a:ln>
        </p:spPr>
      </p:pic>
      <p:pic>
        <p:nvPicPr>
          <p:cNvPr id="746466100" name="Grafik 10"/>
          <p:cNvPicPr/>
          <p:nvPr/>
        </p:nvPicPr>
        <p:blipFill rotWithShape="1">
          <a:blip r:embed="rId16"/>
          <a:stretch/>
        </p:blipFill>
        <p:spPr bwMode="auto"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117787348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926690536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291969" name="CustomShape 3"/>
          <p:cNvSpPr/>
          <p:nvPr/>
        </p:nvSpPr>
        <p:spPr bwMode="auto"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19709698" name="Grafik 6"/>
          <p:cNvPicPr/>
          <p:nvPr/>
        </p:nvPicPr>
        <p:blipFill rotWithShape="1">
          <a:blip r:embed="rId14"/>
          <a:stretch/>
        </p:blipFill>
        <p:spPr bwMode="auto">
          <a:xfrm>
            <a:off x="533160" y="63306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2109331676" name="Grafik 7"/>
          <p:cNvPicPr/>
          <p:nvPr/>
        </p:nvPicPr>
        <p:blipFill rotWithShape="1">
          <a:blip r:embed="rId15"/>
          <a:stretch/>
        </p:blipFill>
        <p:spPr bwMode="auto"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29285244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47138687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039302" name="CustomShape 3"/>
          <p:cNvSpPr/>
          <p:nvPr/>
        </p:nvSpPr>
        <p:spPr bwMode="auto"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1960680847" name="Grafik 6"/>
          <p:cNvPicPr/>
          <p:nvPr/>
        </p:nvPicPr>
        <p:blipFill rotWithShape="1">
          <a:blip r:embed="rId14"/>
          <a:stretch/>
        </p:blipFill>
        <p:spPr bwMode="auto">
          <a:xfrm>
            <a:off x="533160" y="6330600"/>
            <a:ext cx="1534320" cy="148680"/>
          </a:xfrm>
          <a:prstGeom prst="rect">
            <a:avLst/>
          </a:prstGeom>
          <a:ln w="0">
            <a:noFill/>
          </a:ln>
        </p:spPr>
      </p:pic>
      <p:pic>
        <p:nvPicPr>
          <p:cNvPr id="58232249" name="Grafik 7"/>
          <p:cNvPicPr/>
          <p:nvPr/>
        </p:nvPicPr>
        <p:blipFill rotWithShape="1">
          <a:blip r:embed="rId15"/>
          <a:stretch/>
        </p:blipFill>
        <p:spPr bwMode="auto">
          <a:xfrm>
            <a:off x="9462240" y="298080"/>
            <a:ext cx="2439360" cy="729360"/>
          </a:xfrm>
          <a:prstGeom prst="rect">
            <a:avLst/>
          </a:prstGeom>
          <a:ln w="0">
            <a:noFill/>
          </a:ln>
        </p:spPr>
      </p:pic>
      <p:sp>
        <p:nvSpPr>
          <p:cNvPr id="61578793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079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289105104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gif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gif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gif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gif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gif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85101" name="CustomShape 1"/>
          <p:cNvSpPr/>
          <p:nvPr/>
        </p:nvSpPr>
        <p:spPr bwMode="auto">
          <a:xfrm>
            <a:off x="515880" y="532080"/>
            <a:ext cx="4690080" cy="459360"/>
          </a:xfrm>
          <a:custGeom>
            <a:avLst/>
            <a:gdLst/>
            <a:ahLst/>
            <a:cxnLst/>
            <a:rect l="l" t="t" r="r" b="b"/>
            <a:pathLst>
              <a:path w="3202047" h="460016" fill="norm" stroke="1" extrusionOk="0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51941940" name="TextShape 2"/>
          <p:cNvSpPr/>
          <p:nvPr/>
        </p:nvSpPr>
        <p:spPr bwMode="auto">
          <a:xfrm>
            <a:off x="515880" y="555840"/>
            <a:ext cx="11159280" cy="105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800" b="0" strike="noStrike" spc="-1">
                <a:solidFill>
                  <a:srgbClr val="FFFFFF"/>
                </a:solidFill>
                <a:latin typeface="AvantGarde Bk BT"/>
                <a:ea typeface="Verdana"/>
              </a:rPr>
              <a:t>Intelligent Robotics Lab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439191493" name="CustomShape 3"/>
          <p:cNvSpPr/>
          <p:nvPr/>
        </p:nvSpPr>
        <p:spPr bwMode="auto"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866111339" name="CustomShape 4"/>
          <p:cNvSpPr/>
          <p:nvPr/>
        </p:nvSpPr>
        <p:spPr bwMode="auto">
          <a:xfrm>
            <a:off x="2194560" y="1691640"/>
            <a:ext cx="8228880" cy="1831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107313319" name="Picture 2" descr="http://tc-cham.hdu-deggendorf.de/images/stories/bildarchiv/bild_07_g.jpg"/>
          <p:cNvPicPr/>
          <p:nvPr/>
        </p:nvPicPr>
        <p:blipFill rotWithShape="1">
          <a:blip r:embed="rId3"/>
          <a:stretch/>
        </p:blipFill>
        <p:spPr bwMode="auto">
          <a:xfrm>
            <a:off x="8891280" y="4327560"/>
            <a:ext cx="2218320" cy="1663560"/>
          </a:xfrm>
          <a:prstGeom prst="rect">
            <a:avLst/>
          </a:prstGeom>
          <a:ln w="0">
            <a:noFill/>
          </a:ln>
        </p:spPr>
      </p:pic>
      <p:pic>
        <p:nvPicPr>
          <p:cNvPr id="1619301743" name="Grafik 11"/>
          <p:cNvPicPr/>
          <p:nvPr/>
        </p:nvPicPr>
        <p:blipFill rotWithShape="1">
          <a:blip r:embed="rId4"/>
          <a:stretch/>
        </p:blipFill>
        <p:spPr bwMode="auto">
          <a:xfrm>
            <a:off x="6650280" y="4327560"/>
            <a:ext cx="2180160" cy="1665360"/>
          </a:xfrm>
          <a:prstGeom prst="rect">
            <a:avLst/>
          </a:prstGeom>
          <a:ln w="0">
            <a:noFill/>
          </a:ln>
        </p:spPr>
      </p:pic>
      <p:sp>
        <p:nvSpPr>
          <p:cNvPr id="1269158877" name="CustomShape 5"/>
          <p:cNvSpPr/>
          <p:nvPr/>
        </p:nvSpPr>
        <p:spPr bwMode="auto">
          <a:xfrm>
            <a:off x="1737360" y="1784160"/>
            <a:ext cx="9143640" cy="1684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50000"/>
              </a:lnSpc>
              <a:buNone/>
              <a:defRPr/>
            </a:pPr>
            <a:r>
              <a:rPr lang="en-US" sz="2400" b="1" strike="noStrike" spc="-1">
                <a:solidFill>
                  <a:srgbClr val="1A4273"/>
                </a:solidFill>
                <a:latin typeface="Verdana"/>
                <a:ea typeface="Verdana"/>
              </a:rPr>
              <a:t>Development of a SLAM and Autonomous Navigation System for a Self-Driving Car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919119679" name="Grafik 2"/>
          <p:cNvPicPr/>
          <p:nvPr/>
        </p:nvPicPr>
        <p:blipFill rotWithShape="1">
          <a:blip r:embed="rId5"/>
          <a:stretch/>
        </p:blipFill>
        <p:spPr bwMode="auto">
          <a:xfrm>
            <a:off x="3406320" y="4335840"/>
            <a:ext cx="3182760" cy="1663920"/>
          </a:xfrm>
          <a:prstGeom prst="rect">
            <a:avLst/>
          </a:prstGeom>
          <a:ln w="0">
            <a:noFill/>
          </a:ln>
        </p:spPr>
      </p:pic>
      <p:pic>
        <p:nvPicPr>
          <p:cNvPr id="1409279901" name="Grafik 4"/>
          <p:cNvPicPr/>
          <p:nvPr/>
        </p:nvPicPr>
        <p:blipFill rotWithShape="1">
          <a:blip r:embed="rId6"/>
          <a:srcRect l="11370" t="11398" r="16394" b="13093"/>
          <a:stretch/>
        </p:blipFill>
        <p:spPr bwMode="auto">
          <a:xfrm>
            <a:off x="989640" y="4335840"/>
            <a:ext cx="2355480" cy="1641240"/>
          </a:xfrm>
          <a:prstGeom prst="rect">
            <a:avLst/>
          </a:prstGeom>
          <a:ln w="0">
            <a:noFill/>
          </a:ln>
        </p:spPr>
      </p:pic>
      <p:sp>
        <p:nvSpPr>
          <p:cNvPr id="1126435850" name="CustomShape 6"/>
          <p:cNvSpPr/>
          <p:nvPr/>
        </p:nvSpPr>
        <p:spPr bwMode="auto">
          <a:xfrm>
            <a:off x="7274160" y="3523680"/>
            <a:ext cx="4289400" cy="830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50000"/>
              </a:lnSpc>
              <a:buNone/>
              <a:defRPr/>
            </a:pPr>
            <a:r>
              <a:rPr lang="en-US" sz="1400" b="0" strike="noStrike" spc="-1">
                <a:solidFill>
                  <a:srgbClr val="1A4273"/>
                </a:solidFill>
                <a:latin typeface="Verdana"/>
                <a:ea typeface="Verdana"/>
              </a:rPr>
              <a:t>Student: Amit Sajeev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50000"/>
              </a:lnSpc>
              <a:buNone/>
              <a:defRPr/>
            </a:pPr>
            <a:r>
              <a:rPr lang="en-US" sz="1400" b="0" strike="noStrike" spc="-1">
                <a:solidFill>
                  <a:srgbClr val="1A4273"/>
                </a:solidFill>
                <a:latin typeface="Verdana"/>
                <a:ea typeface="Verdana"/>
              </a:rPr>
              <a:t>Supervisor: Prof. Dr. Dmitrii Dobriborsci</a:t>
            </a:r>
            <a:endParaRPr lang="en-US" sz="1400" b="0" strike="noStrike" spc="-1">
              <a:latin typeface="Arial"/>
            </a:endParaRPr>
          </a:p>
          <a:p>
            <a:pPr algn="ctr">
              <a:lnSpc>
                <a:spcPct val="150000"/>
              </a:lnSpc>
              <a:buNone/>
              <a:defRPr/>
            </a:pPr>
            <a:endParaRPr lang="en-US" sz="1400" b="0" strike="noStrike" spc="-1">
              <a:latin typeface="Arial"/>
            </a:endParaRPr>
          </a:p>
        </p:txBody>
      </p:sp>
      <p:sp>
        <p:nvSpPr>
          <p:cNvPr id="200726102" name="TextBox 1"/>
          <p:cNvSpPr/>
          <p:nvPr/>
        </p:nvSpPr>
        <p:spPr bwMode="auto">
          <a:xfrm>
            <a:off x="6499080" y="2879280"/>
            <a:ext cx="3404519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Deadline: September 14, 2026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396525" name="CustomShape 1"/>
          <p:cNvSpPr/>
          <p:nvPr/>
        </p:nvSpPr>
        <p:spPr bwMode="auto"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  <a:defRPr/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Problem definition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55189317" name="Picture 5" descr="I:\arrow.GIF"/>
          <p:cNvPicPr/>
          <p:nvPr/>
        </p:nvPicPr>
        <p:blipFill rotWithShape="1">
          <a:blip r:embed="rId3"/>
          <a:stretch/>
        </p:blipFill>
        <p:spPr bwMode="auto"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2100500958" name="CustomShape 2"/>
          <p:cNvSpPr/>
          <p:nvPr/>
        </p:nvSpPr>
        <p:spPr bwMode="auto"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45C8C71C-68E2-4323-9991-FD6DE535CC20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494736123" name="CustomShape 3"/>
          <p:cNvSpPr/>
          <p:nvPr/>
        </p:nvSpPr>
        <p:spPr bwMode="auto">
          <a:xfrm>
            <a:off x="135720" y="1555920"/>
            <a:ext cx="11485800" cy="415353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Develop a SLAM and Autonomous Navigation System for a Self-Driving Car</a:t>
            </a:r>
            <a:endParaRPr lang="en-US" sz="2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ROS2-based autonomous navigation system for the </a:t>
            </a: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Quanser</a:t>
            </a: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 by integrating sensor fusion</a:t>
            </a:r>
            <a:endParaRPr lang="en-US" sz="2400" b="0" strike="noStrike" spc="-1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Problem statement</a:t>
            </a:r>
            <a:endParaRPr lang="en-US" sz="2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Building a complete stack for a self driving car</a:t>
            </a:r>
            <a:endParaRPr lang="en-US" sz="2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To fuse different sensor data into the environment to localize and navigate the car in real time.</a:t>
            </a:r>
            <a:endParaRPr lang="en-US" sz="2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Design architecture for ROS2 and implement SLAM</a:t>
            </a:r>
            <a:endParaRPr lang="en-US" sz="2400" b="0" strike="noStrike" spc="-1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ea typeface="Verdana"/>
              </a:rPr>
              <a:t>Scope</a:t>
            </a:r>
            <a:endParaRPr lang="en-US" sz="2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GB" sz="2400" b="0" strike="noStrike" spc="-1">
                <a:solidFill>
                  <a:srgbClr val="000000"/>
                </a:solidFill>
                <a:ea typeface="Verdana"/>
              </a:rPr>
              <a:t>Deliverables: ROS2 Humble simulation environment, </a:t>
            </a:r>
            <a:r>
              <a:rPr lang="en-GB" sz="2400" b="0" strike="noStrike" spc="-1">
                <a:solidFill>
                  <a:srgbClr val="000000"/>
                </a:solidFill>
                <a:ea typeface="Verdana"/>
              </a:rPr>
              <a:t>QCar</a:t>
            </a:r>
            <a:r>
              <a:rPr lang="en-GB" sz="2400" b="0" strike="noStrike" spc="-1">
                <a:solidFill>
                  <a:srgbClr val="000000"/>
                </a:solidFill>
                <a:ea typeface="Verdana"/>
              </a:rPr>
              <a:t> URDF model, ros2_control joint controllers, RViz visualization, documented repository</a:t>
            </a:r>
            <a:endParaRPr lang="en-US" sz="2400" b="0" strike="noStrike" spc="-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73223" name="CustomShape 1"/>
          <p:cNvSpPr/>
          <p:nvPr/>
        </p:nvSpPr>
        <p:spPr bwMode="auto"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  <a:defRPr/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Thesis goal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4102077" name="Picture 5" descr="I:\arrow.GIF"/>
          <p:cNvPicPr/>
          <p:nvPr/>
        </p:nvPicPr>
        <p:blipFill rotWithShape="1">
          <a:blip r:embed="rId3"/>
          <a:stretch/>
        </p:blipFill>
        <p:spPr bwMode="auto"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295660486" name="CustomShape 2"/>
          <p:cNvSpPr/>
          <p:nvPr/>
        </p:nvSpPr>
        <p:spPr bwMode="auto"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740FD9C5-05F2-4049-A821-6F6783AB82D2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456653453" name="CustomShape 3"/>
          <p:cNvSpPr/>
          <p:nvPr/>
        </p:nvSpPr>
        <p:spPr bwMode="auto">
          <a:xfrm>
            <a:off x="319320" y="1083240"/>
            <a:ext cx="11272680" cy="27377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Main objective</a:t>
            </a:r>
            <a:endParaRPr lang="en-US" sz="1800" b="0" strike="noStrike" spc="-1"/>
          </a:p>
          <a:p>
            <a:pPr>
              <a:lnSpc>
                <a:spcPct val="100000"/>
              </a:lnSpc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Design and implement a ROS2-based perception and navigation system for the 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Quanser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, enabling real-time SLAM, localization and autonomous indoor driving.</a:t>
            </a:r>
            <a:endParaRPr lang="en-US" sz="2000" b="0" strike="noStrike" spc="-1"/>
          </a:p>
          <a:p>
            <a:pPr>
              <a:lnSpc>
                <a:spcPct val="100000"/>
              </a:lnSpc>
              <a:buNone/>
              <a:defRPr/>
            </a:pPr>
            <a:endParaRPr lang="en-US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Sub-objectives</a:t>
            </a:r>
            <a:endParaRPr lang="en-US" sz="18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Sensor characterization and time-synchronized data acquisition (LiDAR, IMU, encoders, camera)</a:t>
            </a:r>
            <a:endParaRPr lang="en-US" sz="18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Multi-sensor fusion for state estimation using EKF/UKF (</a:t>
            </a: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robot_localization</a:t>
            </a: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 package)</a:t>
            </a:r>
            <a:endParaRPr lang="en-US" sz="18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Evaluate and configure ROS2-compatible SLAM algorithms (Cartographer, KISS-ICP, </a:t>
            </a: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gmapping</a:t>
            </a: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)</a:t>
            </a:r>
            <a:endParaRPr lang="en-US" sz="18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Integrate Nav2 for autonomous path planning and obstacle avoidance on the </a:t>
            </a: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QCar</a:t>
            </a:r>
            <a:endParaRPr lang="en-US" sz="1800" b="0" strike="noStrike" spc="-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91068" name="CustomShape 1"/>
          <p:cNvSpPr/>
          <p:nvPr/>
        </p:nvSpPr>
        <p:spPr bwMode="auto"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  <a:defRPr/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Plan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21461076" name="Picture 5" descr="I:\arrow.GIF"/>
          <p:cNvPicPr/>
          <p:nvPr/>
        </p:nvPicPr>
        <p:blipFill rotWithShape="1">
          <a:blip r:embed="rId3"/>
          <a:stretch/>
        </p:blipFill>
        <p:spPr bwMode="auto"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2114316782" name="CustomShape 2"/>
          <p:cNvSpPr/>
          <p:nvPr/>
        </p:nvSpPr>
        <p:spPr bwMode="auto"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28290D25-DB43-4985-8A96-BB91D52F03C9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882704512" name="CustomShape 3"/>
          <p:cNvSpPr/>
          <p:nvPr/>
        </p:nvSpPr>
        <p:spPr bwMode="auto">
          <a:xfrm>
            <a:off x="319320" y="1083240"/>
            <a:ext cx="70480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Plan for the last 2 weeks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013653038" name="CustomShape 4"/>
          <p:cNvSpPr/>
          <p:nvPr/>
        </p:nvSpPr>
        <p:spPr bwMode="auto">
          <a:xfrm>
            <a:off x="257040" y="1447920"/>
            <a:ext cx="11403720" cy="2224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Expected tasks</a:t>
            </a:r>
            <a:endParaRPr lang="en-US" sz="20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Task1: Restore gazebo_ros2_control + 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drive_controller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/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steering_controller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 stack</a:t>
            </a:r>
            <a:endParaRPr lang="en-US" sz="20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Task2: Implement cmd_vel_to_drive.py converter for Nav2 integration</a:t>
            </a:r>
            <a:endParaRPr lang="en-US" sz="20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Task3: Add ground truth odometry using libgazebo_ros_p3d.so</a:t>
            </a:r>
            <a:endParaRPr lang="en-US" sz="20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Task4: Fix 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odom→base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 TF chain for Nav2 local 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costmap</a:t>
            </a:r>
            <a:endParaRPr lang="en-US" sz="2000" b="0" strike="noStrike" spc="-1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Connection to the milestones:</a:t>
            </a:r>
            <a:endParaRPr lang="en-US" sz="20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M</a:t>
            </a:r>
            <a:r>
              <a:rPr lang="en-US" sz="2000" spc="-1">
                <a:solidFill>
                  <a:srgbClr val="000000"/>
                </a:solidFill>
                <a:ea typeface="Verdana"/>
              </a:rPr>
              <a:t>5</a:t>
            </a:r>
            <a:r>
              <a:rPr lang="en-US" sz="2000" b="0" strike="noStrike" spc="-1">
                <a:solidFill>
                  <a:srgbClr val="000000"/>
                </a:solidFill>
                <a:ea typeface="Verdana"/>
              </a:rPr>
              <a:t>: Complete SLAM pipeline with odometry fusion ready for Nav2</a:t>
            </a:r>
            <a:endParaRPr lang="en-US" sz="2000" b="0" strike="noStrike" spc="-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047729" name="CustomShape 1"/>
          <p:cNvSpPr/>
          <p:nvPr/>
        </p:nvSpPr>
        <p:spPr bwMode="auto"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  <a:defRPr/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Progress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64704833" name="Picture 5" descr="I:\arrow.GIF"/>
          <p:cNvPicPr/>
          <p:nvPr/>
        </p:nvPicPr>
        <p:blipFill rotWithShape="1">
          <a:blip r:embed="rId3"/>
          <a:stretch/>
        </p:blipFill>
        <p:spPr bwMode="auto"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2047876454" name="CustomShape 2"/>
          <p:cNvSpPr/>
          <p:nvPr/>
        </p:nvSpPr>
        <p:spPr bwMode="auto"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0B89A58C-5836-431C-9826-5B53054788E4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508842130" name="CustomShape 3"/>
          <p:cNvSpPr/>
          <p:nvPr/>
        </p:nvSpPr>
        <p:spPr bwMode="auto">
          <a:xfrm>
            <a:off x="319680" y="995400"/>
            <a:ext cx="6280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sz="1800" b="1" strike="noStrike" spc="-1">
                <a:solidFill>
                  <a:srgbClr val="000000"/>
                </a:solidFill>
                <a:latin typeface="Verdana"/>
                <a:ea typeface="Verdana"/>
              </a:rPr>
              <a:t>Work completed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391893718" name="CustomShape 4"/>
          <p:cNvSpPr/>
          <p:nvPr/>
        </p:nvSpPr>
        <p:spPr bwMode="auto">
          <a:xfrm>
            <a:off x="540360" y="1359720"/>
            <a:ext cx="11241360" cy="2676202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Completed tasks</a:t>
            </a:r>
            <a:endParaRPr lang="en-US" sz="1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T1: Keyboard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teleop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implemented - both Float64MultiArray and Twist modes</a:t>
            </a:r>
            <a:endParaRPr lang="en-US" sz="1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T2: LiDAR plugin added - publishing /scan at 10Hz</a:t>
            </a:r>
            <a:endParaRPr lang="en-US" sz="1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T3: Cartographer SLAM configured - full map built and saved</a:t>
            </a:r>
            <a:endParaRPr lang="en-US" sz="1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T4: Nav2 stack launched - path planning and goal navigation working</a:t>
            </a:r>
            <a:endParaRPr lang="en-US" sz="1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T5: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cmd_vel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converter implemented - Nav2 controls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QCar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drive controller</a:t>
            </a:r>
            <a:endParaRPr lang="en-US" sz="1400" b="0" strike="noStrike" spc="-1"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T6: libgazebo_ros_p3d.so ground truth odometry added - /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odom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topic publishing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odom→base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TF</a:t>
            </a:r>
            <a:endParaRPr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spc="-1">
                <a:solidFill>
                  <a:srgbClr val="000000"/>
                </a:solidFill>
                <a:ea typeface="Verdana"/>
              </a:rPr>
              <a:t>T7: odom_to_tf.py node broadcasting real odometry TF from p3d plugin</a:t>
            </a:r>
            <a:endParaRPr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T8: Full Nav2 stack active —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map_server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,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amcl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,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controller_server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, 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bt_navigator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all lifecycle-managed</a:t>
            </a:r>
            <a:endParaRPr/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spc="-1">
                <a:solidFill>
                  <a:srgbClr val="000000"/>
                </a:solidFill>
                <a:ea typeface="Verdana"/>
              </a:rPr>
              <a:t>T9: Autonomous goal navigation confirmed working — Goal succeeded logged</a:t>
            </a:r>
            <a:endParaRPr lang="en-US" sz="1400" b="0" strike="noStrike" spc="-1"/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Progress:Robot</a:t>
            </a:r>
            <a:r>
              <a:rPr lang="en-US" sz="1400" b="0" strike="noStrike" spc="-1">
                <a:solidFill>
                  <a:srgbClr val="000000"/>
                </a:solidFill>
                <a:ea typeface="Verdana"/>
              </a:rPr>
              <a:t> navigates autonomously to a set 2D goal pose in RViz. AMCL localizes against saved map using LiDAR. Goal reaching confirmed. Minor goal accuracy imprecision remains due to Ackermann-style steering approximation in the converter.</a:t>
            </a:r>
            <a:endParaRPr lang="en-US" sz="1400" b="0" strike="noStrike" spc="-1"/>
          </a:p>
        </p:txBody>
      </p:sp>
      <p:sp>
        <p:nvSpPr>
          <p:cNvPr id="232383505" name="CustomShape 5"/>
          <p:cNvSpPr/>
          <p:nvPr/>
        </p:nvSpPr>
        <p:spPr bwMode="auto">
          <a:xfrm>
            <a:off x="499680" y="4181400"/>
            <a:ext cx="1085760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1600" b="1" strike="noStrike" spc="-1">
                <a:solidFill>
                  <a:srgbClr val="000000"/>
                </a:solidFill>
                <a:ea typeface="DejaVu Sans"/>
              </a:rPr>
              <a:t>Work NOT completed</a:t>
            </a:r>
            <a:endParaRPr lang="en-US" sz="16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600" b="0" strike="noStrike" spc="-1">
                <a:solidFill>
                  <a:srgbClr val="000000"/>
                </a:solidFill>
                <a:ea typeface="DejaVu Sans"/>
              </a:rPr>
              <a:t>Precise goal accuracy (arrives near goal but with heading/position offset)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600" b="0" strike="noStrike" spc="-1">
                <a:solidFill>
                  <a:srgbClr val="000000"/>
                </a:solidFill>
                <a:ea typeface="DejaVu Sans"/>
              </a:rPr>
              <a:t>Real wheel encoder odometry (using ground truth p3d as substitute)</a:t>
            </a:r>
            <a:endParaRPr lang="en-US" sz="1600" b="0" strike="noStrike" spc="-1"/>
          </a:p>
          <a:p>
            <a:pPr>
              <a:lnSpc>
                <a:spcPct val="100000"/>
              </a:lnSpc>
              <a:buNone/>
              <a:defRPr/>
            </a:pPr>
            <a:r>
              <a:rPr sz="1600" b="1" strike="noStrike" spc="-1">
                <a:solidFill>
                  <a:srgbClr val="000000"/>
                </a:solidFill>
                <a:ea typeface="DejaVu Sans"/>
              </a:rPr>
              <a:t>Reasons: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600" b="0" strike="noStrike" spc="-1"/>
              <a:t>drive_controller</a:t>
            </a:r>
            <a:r>
              <a:rPr lang="en-US" sz="1600" b="0" strike="noStrike" spc="-1"/>
              <a:t> (velocity) publishes no real odometry - p3d plugin used as ground truth substitute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600" b="0" strike="noStrike" spc="-1"/>
              <a:t>Ackermann steering geometry not fully modeled in cmd_vel_to_drive.py converter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887206" name="CustomShape 1"/>
          <p:cNvSpPr/>
          <p:nvPr/>
        </p:nvSpPr>
        <p:spPr bwMode="auto"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  <a:defRPr/>
            </a:pPr>
            <a:r>
              <a:rPr lang="de-DE" sz="2400" b="1" strike="noStrike" spc="-1">
                <a:solidFill>
                  <a:srgbClr val="1A4273"/>
                </a:solidFill>
                <a:latin typeface="AvantGarde Md BT"/>
                <a:ea typeface="DejaVu Sans"/>
              </a:rPr>
              <a:t>           Plan for the next 2 weeks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571612307" name="Picture 5" descr="I:\arrow.GIF"/>
          <p:cNvPicPr/>
          <p:nvPr/>
        </p:nvPicPr>
        <p:blipFill rotWithShape="1">
          <a:blip r:embed="rId3"/>
          <a:stretch/>
        </p:blipFill>
        <p:spPr bwMode="auto"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397769463" name="CustomShape 2"/>
          <p:cNvSpPr/>
          <p:nvPr/>
        </p:nvSpPr>
        <p:spPr bwMode="auto"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EC1E2ED7-8A9A-423F-8908-829D1469C5B1}" type="slidenum">
              <a:rPr lang="de-DE" sz="1200" b="0" strike="noStrike" spc="-1">
                <a:solidFill>
                  <a:srgbClr val="8B8B8B"/>
                </a:solidFill>
                <a:latin typeface="Aptos"/>
                <a:ea typeface="DejaVu Sans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597378333" name="CustomShape 3"/>
          <p:cNvSpPr/>
          <p:nvPr/>
        </p:nvSpPr>
        <p:spPr bwMode="auto">
          <a:xfrm>
            <a:off x="319320" y="1083240"/>
            <a:ext cx="11127458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US" sz="1800" b="1" strike="noStrike" spc="-1">
                <a:solidFill>
                  <a:srgbClr val="000000"/>
                </a:solidFill>
                <a:ea typeface="Verdana"/>
              </a:rPr>
              <a:t>Upcoming tasks:</a:t>
            </a:r>
            <a:endParaRPr lang="en-US" sz="18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T1: Optimize simulation stack performance and clean up codebase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T2: Connect to physical 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 and establish ROS2 Humble communication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T3: Deploy simulation stack to 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 onboard computer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T4: Calibrate LiDAR sensor on real hardware - verify /scan topic publishing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T5: Test keyboard 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teleop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 on real 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QCar</a:t>
            </a: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 - validate drive and steering response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strike="noStrike" spc="-1">
                <a:solidFill>
                  <a:srgbClr val="000000"/>
                </a:solidFill>
                <a:ea typeface="DejaVu Sans"/>
              </a:rPr>
              <a:t>T6: Run Cartographer SLAM on real hardware - build map of physical environment</a:t>
            </a:r>
            <a:endParaRPr/>
          </a:p>
        </p:txBody>
      </p:sp>
      <p:sp>
        <p:nvSpPr>
          <p:cNvPr id="1898920395" name="CustomShape 4"/>
          <p:cNvSpPr/>
          <p:nvPr/>
        </p:nvSpPr>
        <p:spPr bwMode="auto">
          <a:xfrm>
            <a:off x="525240" y="4013040"/>
            <a:ext cx="10713423" cy="193753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sz="2000" b="1" strike="noStrike" spc="-1">
                <a:solidFill>
                  <a:srgbClr val="000000"/>
                </a:solidFill>
                <a:ea typeface="DejaVu Sans"/>
              </a:rPr>
              <a:t>Expected outcomes:</a:t>
            </a:r>
            <a:endParaRPr lang="en-US" sz="20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/>
              <a:t>ROS2 stack running on physical </a:t>
            </a:r>
            <a:r>
              <a:rPr lang="en-US" sz="2000" b="0" strike="noStrike" spc="-1"/>
              <a:t>Qcar</a:t>
            </a:r>
            <a:endParaRPr lang="en-US" sz="20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/>
              <a:t>Real LiDAR data publishing and </a:t>
            </a:r>
            <a:r>
              <a:rPr lang="en-US" sz="2000" b="0" strike="noStrike" spc="-1"/>
              <a:t>teleop</a:t>
            </a:r>
            <a:r>
              <a:rPr lang="en-US" sz="2000" b="0" strike="noStrike" spc="-1"/>
              <a:t> confirmed working</a:t>
            </a:r>
            <a:endParaRPr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/>
              <a:t>First real-world SLAM map built</a:t>
            </a:r>
            <a:endParaRPr/>
          </a:p>
          <a:p>
            <a:pPr>
              <a:lnSpc>
                <a:spcPct val="100000"/>
              </a:lnSpc>
              <a:buNone/>
              <a:defRPr/>
            </a:pPr>
            <a:r>
              <a:rPr sz="2000" b="0" strike="noStrike" spc="-1">
                <a:solidFill>
                  <a:srgbClr val="000000"/>
                </a:solidFill>
                <a:ea typeface="DejaVu Sans"/>
              </a:rPr>
              <a:t>Milestone:</a:t>
            </a:r>
            <a:endParaRPr lang="en-US" sz="2000" b="0" strike="noStrike" spc="-1"/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ea typeface="DejaVu Sans"/>
              </a:rPr>
              <a:t>M6:  Simulation-to-hardware transition initiated, real robot teleoperated and sensor-verified</a:t>
            </a:r>
            <a:endParaRPr lang="en-US" sz="2000" b="0" strike="noStrike" spc="-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331207" name="TextBox 12"/>
          <p:cNvSpPr/>
          <p:nvPr/>
        </p:nvSpPr>
        <p:spPr bwMode="auto">
          <a:xfrm>
            <a:off x="457200" y="453240"/>
            <a:ext cx="8285258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IN" sz="2000" b="1" strike="noStrike" spc="-1">
                <a:solidFill>
                  <a:srgbClr val="000000"/>
                </a:solidFill>
                <a:latin typeface="Arial"/>
                <a:ea typeface="DejaVu Sans"/>
              </a:rPr>
              <a:t>Results: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  <a:ea typeface="DejaVu Sans"/>
              </a:rPr>
              <a:t>SLAM Mapping, Localization and Autonomous Navigation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721248674" name="TextBox 3"/>
          <p:cNvSpPr txBox="1"/>
          <p:nvPr/>
        </p:nvSpPr>
        <p:spPr bwMode="auto">
          <a:xfrm>
            <a:off x="2153253" y="5773918"/>
            <a:ext cx="7885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00"/>
              <a:t>Autonomous goal navigation confirmed - "Goal succeeded" logged in Nav2 terminal</a:t>
            </a:r>
            <a:endParaRPr lang="en-IN" sz="1600"/>
          </a:p>
        </p:txBody>
      </p:sp>
      <p:pic>
        <p:nvPicPr>
          <p:cNvPr id="2094019221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23347" y="1152757"/>
            <a:ext cx="8215398" cy="4621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013383" name="TextBox 12"/>
          <p:cNvSpPr/>
          <p:nvPr/>
        </p:nvSpPr>
        <p:spPr bwMode="auto">
          <a:xfrm>
            <a:off x="457200" y="453240"/>
            <a:ext cx="8285258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IN" sz="2000" b="1" strike="noStrike" spc="-1">
                <a:solidFill>
                  <a:srgbClr val="000000"/>
                </a:solidFill>
                <a:latin typeface="Arial"/>
                <a:ea typeface="DejaVu Sans"/>
              </a:rPr>
              <a:t>Results: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  <a:ea typeface="DejaVu Sans"/>
              </a:rPr>
              <a:t>SLAM Mapping, Localization and Autonomous Navigation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743986641" name="TextBox 3"/>
          <p:cNvSpPr txBox="1"/>
          <p:nvPr/>
        </p:nvSpPr>
        <p:spPr bwMode="auto">
          <a:xfrm>
            <a:off x="2153253" y="5773918"/>
            <a:ext cx="7885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00"/>
              <a:t>Autonomous goal navigation confirmed - "Goal succeeded" logged in Nav2 terminal</a:t>
            </a:r>
            <a:endParaRPr lang="en-IN" sz="1600"/>
          </a:p>
        </p:txBody>
      </p:sp>
      <p:pic>
        <p:nvPicPr>
          <p:cNvPr id="2099296149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00248" y="2065919"/>
            <a:ext cx="8191500" cy="3514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4923" name="TextBox 1"/>
          <p:cNvSpPr/>
          <p:nvPr/>
        </p:nvSpPr>
        <p:spPr bwMode="auto">
          <a:xfrm>
            <a:off x="869040" y="453240"/>
            <a:ext cx="170964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en-IN" sz="2000" b="1" strike="noStrike" spc="-1">
                <a:solidFill>
                  <a:srgbClr val="000000"/>
                </a:solidFill>
                <a:latin typeface="Arial"/>
                <a:ea typeface="DejaVu Sans"/>
              </a:rPr>
              <a:t>Issues faced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377399778" name="TextBox 2"/>
          <p:cNvSpPr/>
          <p:nvPr/>
        </p:nvSpPr>
        <p:spPr bwMode="auto">
          <a:xfrm>
            <a:off x="7355640" y="4490168"/>
            <a:ext cx="4047239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Goal reaching imprecise - Ackermann steering geometry </a:t>
            </a:r>
            <a:endParaRPr/>
          </a:p>
          <a:p>
            <a:pPr algn="ctr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approximated in </a:t>
            </a: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cmd_vel</a:t>
            </a: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 converter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658629950" name="Picture 175"/>
          <p:cNvPicPr/>
          <p:nvPr/>
        </p:nvPicPr>
        <p:blipFill rotWithShape="1">
          <a:blip r:embed="rId3"/>
          <a:stretch/>
        </p:blipFill>
        <p:spPr bwMode="auto">
          <a:xfrm>
            <a:off x="807840" y="1586520"/>
            <a:ext cx="4449960" cy="2503080"/>
          </a:xfrm>
          <a:prstGeom prst="rect">
            <a:avLst/>
          </a:prstGeom>
          <a:ln w="0">
            <a:noFill/>
          </a:ln>
        </p:spPr>
      </p:pic>
      <p:sp>
        <p:nvSpPr>
          <p:cNvPr id="561508103" name="TextBox 3"/>
          <p:cNvSpPr/>
          <p:nvPr/>
        </p:nvSpPr>
        <p:spPr bwMode="auto">
          <a:xfrm>
            <a:off x="1422000" y="4299840"/>
            <a:ext cx="29214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DejaVu Sans"/>
              </a:rPr>
              <a:t>Robot deviates from Nav2 planned path.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996060819" name="Picture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99863" y="1151946"/>
            <a:ext cx="5838176" cy="3283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494364" name="CustomShape 1"/>
          <p:cNvSpPr/>
          <p:nvPr/>
        </p:nvSpPr>
        <p:spPr bwMode="auto">
          <a:xfrm>
            <a:off x="0" y="6795360"/>
            <a:ext cx="12191400" cy="7128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pPr>
              <a:defRPr/>
            </a:pPr>
            <a:endParaRPr lang="en-IN"/>
          </a:p>
        </p:txBody>
      </p:sp>
      <p:pic>
        <p:nvPicPr>
          <p:cNvPr id="530745652" name="Picture 2" descr="https://scontent-dus1-1.xx.fbcdn.net/v/t31.0-8/479427_393094454061277_801847919_o.jpg?_nc_cat=109&amp;_nc_ht=scontent-dus1-1.xx&amp;oh=98fec9207dda7021b746b9394ff6ba0b&amp;oe=5CE9F3A9"/>
          <p:cNvPicPr/>
          <p:nvPr/>
        </p:nvPicPr>
        <p:blipFill rotWithShape="1">
          <a:blip r:embed="rId3"/>
          <a:stretch/>
        </p:blipFill>
        <p:spPr bwMode="auto">
          <a:xfrm>
            <a:off x="0" y="1121040"/>
            <a:ext cx="8706240" cy="4615560"/>
          </a:xfrm>
          <a:prstGeom prst="rect">
            <a:avLst/>
          </a:prstGeom>
          <a:ln w="0">
            <a:noFill/>
          </a:ln>
        </p:spPr>
      </p:pic>
      <p:sp>
        <p:nvSpPr>
          <p:cNvPr id="1907419646" name="CustomShape 2"/>
          <p:cNvSpPr/>
          <p:nvPr/>
        </p:nvSpPr>
        <p:spPr bwMode="auto">
          <a:xfrm>
            <a:off x="0" y="1422720"/>
            <a:ext cx="8759880" cy="1368720"/>
          </a:xfrm>
          <a:prstGeom prst="rect">
            <a:avLst/>
          </a:prstGeom>
          <a:noFill/>
          <a:ln w="936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50000"/>
              </a:lnSpc>
              <a:buNone/>
              <a:tabLst>
                <a:tab pos="0" algn="l"/>
              </a:tabLst>
              <a:defRPr/>
            </a:pPr>
            <a:r>
              <a:rPr lang="de-DE" sz="3200" b="1" strike="noStrike" spc="-1">
                <a:solidFill>
                  <a:srgbClr val="FFFFFF"/>
                </a:solidFill>
                <a:latin typeface="Verdana"/>
                <a:ea typeface="DejaVu Sans"/>
              </a:rPr>
              <a:t>Herzlichen Dank für Ihr Interesse!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92838296" name="CustomShape 3"/>
          <p:cNvSpPr/>
          <p:nvPr/>
        </p:nvSpPr>
        <p:spPr bwMode="auto">
          <a:xfrm>
            <a:off x="7836120" y="4483440"/>
            <a:ext cx="435528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  <a:defRPr/>
            </a:pPr>
            <a:r>
              <a:rPr lang="de-DE" sz="1400" b="1" strike="noStrike" spc="-1">
                <a:solidFill>
                  <a:srgbClr val="1F497D"/>
                </a:solidFill>
                <a:latin typeface="Verdana"/>
                <a:ea typeface="Verdana"/>
              </a:rPr>
              <a:t>Prof. Dr. Dmitrii Dobriborsci</a:t>
            </a:r>
            <a:endParaRPr lang="en-US" sz="14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  <a:defRPr/>
            </a:pPr>
            <a:r>
              <a:rPr lang="de-DE" sz="1400" b="1" strike="noStrike" spc="-1">
                <a:solidFill>
                  <a:srgbClr val="1F497D"/>
                </a:solidFill>
                <a:latin typeface="Verdana"/>
                <a:ea typeface="Verdana"/>
              </a:rPr>
              <a:t>Dmitrii.dobriborsci@th-deg.de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56927804" name="CustomShape 4"/>
          <p:cNvSpPr/>
          <p:nvPr/>
        </p:nvSpPr>
        <p:spPr bwMode="auto">
          <a:xfrm>
            <a:off x="8992080" y="2126520"/>
            <a:ext cx="304740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  <a:defRPr/>
            </a:pPr>
            <a:r>
              <a:rPr lang="de-DE" sz="2000" b="1" strike="noStrike" spc="-1">
                <a:solidFill>
                  <a:srgbClr val="1F497D"/>
                </a:solidFill>
                <a:latin typeface="Verdana"/>
                <a:ea typeface="Verdana"/>
              </a:rPr>
              <a:t>Technologie 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  <a:defRPr/>
            </a:pPr>
            <a:r>
              <a:rPr lang="de-DE" sz="2000" b="1" strike="noStrike" spc="-1">
                <a:solidFill>
                  <a:srgbClr val="1F497D"/>
                </a:solidFill>
                <a:latin typeface="Verdana"/>
                <a:ea typeface="Verdana"/>
              </a:rPr>
              <a:t>Campus Cham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  <a:defRPr/>
            </a:pP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  <a:defRPr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Badstraße 21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  <a:defRPr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93413 Cham</a:t>
            </a:r>
            <a:endParaRPr lang="en-US" sz="2000" b="0" strike="noStrike" spc="-1">
              <a:latin typeface="Arial"/>
            </a:endParaRPr>
          </a:p>
          <a:p>
            <a:pPr algn="r">
              <a:lnSpc>
                <a:spcPct val="100000"/>
              </a:lnSpc>
              <a:buNone/>
              <a:defRPr/>
            </a:pPr>
            <a:r>
              <a:rPr lang="de-DE" sz="2000" b="1" strike="noStrike" spc="-1">
                <a:solidFill>
                  <a:srgbClr val="808080"/>
                </a:solidFill>
                <a:latin typeface="Verdana"/>
                <a:ea typeface="Verdana"/>
              </a:rPr>
              <a:t>www.tc-cham.de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068265286" name="CustomShape 5"/>
          <p:cNvSpPr/>
          <p:nvPr/>
        </p:nvSpPr>
        <p:spPr bwMode="auto">
          <a:xfrm>
            <a:off x="2160" y="288360"/>
            <a:ext cx="6597720" cy="455400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1467000" algn="l"/>
              </a:tabLst>
              <a:defRPr/>
            </a:pPr>
            <a:r>
              <a:rPr lang="de-DE" sz="2400" b="1" strike="noStrike" spc="-1">
                <a:solidFill>
                  <a:srgbClr val="403152"/>
                </a:solidFill>
                <a:latin typeface="AvantGarde Md BT"/>
                <a:ea typeface="DejaVu Sans"/>
              </a:rPr>
              <a:t>	</a:t>
            </a:r>
            <a:r>
              <a:rPr lang="de-DE" sz="2400" b="1" strike="noStrike" spc="-1">
                <a:solidFill>
                  <a:srgbClr val="002060"/>
                </a:solidFill>
                <a:latin typeface="AvantGarde Md BT"/>
                <a:ea typeface="DejaVu Sans"/>
              </a:rPr>
              <a:t>KONTAKT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175892636" name="Picture 5" descr="I:\arrow.GIF"/>
          <p:cNvPicPr/>
          <p:nvPr/>
        </p:nvPicPr>
        <p:blipFill rotWithShape="1">
          <a:blip r:embed="rId4"/>
          <a:stretch/>
        </p:blipFill>
        <p:spPr bwMode="auto">
          <a:xfrm>
            <a:off x="499680" y="3942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599256523" name="TextShape 6"/>
          <p:cNvSpPr/>
          <p:nvPr/>
        </p:nvSpPr>
        <p:spPr bwMode="auto">
          <a:xfrm>
            <a:off x="903924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buNone/>
              <a:defRPr/>
            </a:pPr>
            <a:fld id="{5708F17F-82B4-456F-A10B-368DF1986031}" type="slidenum">
              <a:rPr lang="de-DE" sz="1200" b="0" strike="noStrike" spc="-1">
                <a:solidFill>
                  <a:srgbClr val="787878"/>
                </a:solidFill>
                <a:latin typeface="Aptos"/>
                <a:ea typeface="DejaVu Sans"/>
              </a:rPr>
              <a:t>10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ONLYOFFICE/9.3.1.10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dc:description/>
  <dc:language>en-US</dc:language>
  <cp:lastModifiedBy>Anonymous</cp:lastModifiedBy>
  <cp:revision>47</cp:revision>
  <dcterms:created xsi:type="dcterms:W3CDTF">2019-09-09T12:43:43Z</dcterms:created>
  <dcterms:modified xsi:type="dcterms:W3CDTF">2026-07-05T20:32:18Z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6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9</vt:i4>
  </property>
</Properties>
</file>
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6" r:id="rId9"/>
    <p:sldId id="261" r:id="rId10"/>
    <p:sldId id="262" r:id="rId11"/>
    <p:sldId id="263" r:id="rId12"/>
    <p:sldId id="264" r:id="rId13"/>
  </p:sldIdLst>
  <p:sldSz cx="12192000" cy="6858000"/>
  <p:notesSz cx="6858000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00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12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126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127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128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777FE32E-ED86-49EC-A516-F02A76EA0495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52520" y="1241280"/>
            <a:ext cx="5952600" cy="334944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777200"/>
            <a:ext cx="5485680" cy="390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88" name="TextShape 3"/>
          <p:cNvSpPr/>
          <p:nvPr/>
        </p:nvSpPr>
        <p:spPr>
          <a:xfrm>
            <a:off x="3884760" y="9428760"/>
            <a:ext cx="2971080" cy="49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F0DB6A2E-F339-44AF-8DC4-202798E4A9D6}" type="slidenum">
              <a:rPr lang="de-DE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777200"/>
            <a:ext cx="5485680" cy="390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91" name="TextShape 3"/>
          <p:cNvSpPr/>
          <p:nvPr/>
        </p:nvSpPr>
        <p:spPr>
          <a:xfrm>
            <a:off x="3884760" y="9428760"/>
            <a:ext cx="2971080" cy="49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0F50CD21-D434-459E-B518-E74E3BC49C8C}" type="slidenum">
              <a:rPr lang="de-DE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2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777200"/>
            <a:ext cx="5485680" cy="390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94" name="TextShape 3"/>
          <p:cNvSpPr/>
          <p:nvPr/>
        </p:nvSpPr>
        <p:spPr>
          <a:xfrm>
            <a:off x="3884760" y="9428760"/>
            <a:ext cx="2971080" cy="49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3109C7D7-B57E-4A16-85A9-67BAFCC46B60}" type="slidenum">
              <a:rPr lang="de-DE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3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777200"/>
            <a:ext cx="5485680" cy="390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97" name="TextShape 3"/>
          <p:cNvSpPr/>
          <p:nvPr/>
        </p:nvSpPr>
        <p:spPr>
          <a:xfrm>
            <a:off x="3884760" y="9428760"/>
            <a:ext cx="2971080" cy="49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5D2B79E3-BB72-4968-A5DE-13487B6F4E60}" type="slidenum">
              <a:rPr lang="de-DE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4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777200"/>
            <a:ext cx="5485680" cy="390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00" name="TextShape 3"/>
          <p:cNvSpPr/>
          <p:nvPr/>
        </p:nvSpPr>
        <p:spPr>
          <a:xfrm>
            <a:off x="3884760" y="9428760"/>
            <a:ext cx="2971080" cy="49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EB634002-52EB-431B-9343-C59E0005E4D0}" type="slidenum">
              <a:rPr lang="de-DE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5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9772B-54D2-98D6-EC3A-3D5C3A379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>
            <a:extLst>
              <a:ext uri="{FF2B5EF4-FFF2-40B4-BE49-F238E27FC236}">
                <a16:creationId xmlns:a16="http://schemas.microsoft.com/office/drawing/2014/main" id="{AFB17F7A-94C7-62AA-4842-9C4D425C3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>
            <a:extLst>
              <a:ext uri="{FF2B5EF4-FFF2-40B4-BE49-F238E27FC236}">
                <a16:creationId xmlns:a16="http://schemas.microsoft.com/office/drawing/2014/main" id="{15B7A1AB-3EC8-163B-DEFD-B36A7CD320C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777200"/>
            <a:ext cx="5485680" cy="390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00" name="TextShape 3">
            <a:extLst>
              <a:ext uri="{FF2B5EF4-FFF2-40B4-BE49-F238E27FC236}">
                <a16:creationId xmlns:a16="http://schemas.microsoft.com/office/drawing/2014/main" id="{865F1828-FC0F-03B1-7171-98F074737ACB}"/>
              </a:ext>
            </a:extLst>
          </p:cNvPr>
          <p:cNvSpPr/>
          <p:nvPr/>
        </p:nvSpPr>
        <p:spPr>
          <a:xfrm>
            <a:off x="3884760" y="9428760"/>
            <a:ext cx="2971080" cy="49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EB634002-52EB-431B-9343-C59E0005E4D0}" type="slidenum">
              <a:rPr lang="de-DE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6</a:t>
            </a:fld>
            <a:endParaRPr lang="en-US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47866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777200"/>
            <a:ext cx="5485680" cy="390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03" name="TextShape 3"/>
          <p:cNvSpPr/>
          <p:nvPr/>
        </p:nvSpPr>
        <p:spPr>
          <a:xfrm>
            <a:off x="3884760" y="9428760"/>
            <a:ext cx="2971080" cy="49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5D3E5099-DA53-431E-A77A-67BF0FC9A496}" type="slidenum">
              <a:rPr lang="de-DE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7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2"/>
          <p:cNvPicPr/>
          <p:nvPr/>
        </p:nvPicPr>
        <p:blipFill>
          <a:blip r:embed="rId14"/>
          <a:stretch/>
        </p:blipFill>
        <p:spPr>
          <a:xfrm>
            <a:off x="533160" y="6233400"/>
            <a:ext cx="1534320" cy="148680"/>
          </a:xfrm>
          <a:prstGeom prst="rect">
            <a:avLst/>
          </a:prstGeom>
          <a:ln w="0">
            <a:noFill/>
          </a:ln>
        </p:spPr>
      </p:pic>
      <p:pic>
        <p:nvPicPr>
          <p:cNvPr id="6" name="Grafik 1"/>
          <p:cNvPicPr/>
          <p:nvPr/>
        </p:nvPicPr>
        <p:blipFill>
          <a:blip r:embed="rId15"/>
          <a:stretch/>
        </p:blipFill>
        <p:spPr>
          <a:xfrm>
            <a:off x="10248840" y="424800"/>
            <a:ext cx="1426680" cy="248040"/>
          </a:xfrm>
          <a:prstGeom prst="rect">
            <a:avLst/>
          </a:prstGeom>
          <a:ln w="0">
            <a:noFill/>
          </a:ln>
        </p:spPr>
      </p:pic>
      <p:pic>
        <p:nvPicPr>
          <p:cNvPr id="2" name="Grafik 10"/>
          <p:cNvPicPr/>
          <p:nvPr/>
        </p:nvPicPr>
        <p:blipFill>
          <a:blip r:embed="rId16"/>
          <a:stretch/>
        </p:blipFill>
        <p:spPr>
          <a:xfrm>
            <a:off x="9462240" y="298080"/>
            <a:ext cx="2439360" cy="7293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3"/>
          <p:cNvSpPr/>
          <p:nvPr/>
        </p:nvSpPr>
        <p:spPr>
          <a:xfrm>
            <a:off x="0" y="6795360"/>
            <a:ext cx="12191400" cy="7128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42" name="Grafik 6"/>
          <p:cNvPicPr/>
          <p:nvPr/>
        </p:nvPicPr>
        <p:blipFill>
          <a:blip r:embed="rId14"/>
          <a:stretch/>
        </p:blipFill>
        <p:spPr>
          <a:xfrm>
            <a:off x="533160" y="6330600"/>
            <a:ext cx="1534320" cy="148680"/>
          </a:xfrm>
          <a:prstGeom prst="rect">
            <a:avLst/>
          </a:prstGeom>
          <a:ln w="0">
            <a:noFill/>
          </a:ln>
        </p:spPr>
      </p:pic>
      <p:pic>
        <p:nvPicPr>
          <p:cNvPr id="43" name="Grafik 7"/>
          <p:cNvPicPr/>
          <p:nvPr/>
        </p:nvPicPr>
        <p:blipFill>
          <a:blip r:embed="rId15"/>
          <a:stretch/>
        </p:blipFill>
        <p:spPr>
          <a:xfrm>
            <a:off x="9462240" y="298080"/>
            <a:ext cx="2439360" cy="72936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3"/>
          <p:cNvSpPr/>
          <p:nvPr/>
        </p:nvSpPr>
        <p:spPr>
          <a:xfrm>
            <a:off x="0" y="6795360"/>
            <a:ext cx="12191400" cy="7128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83" name="Grafik 6"/>
          <p:cNvPicPr/>
          <p:nvPr/>
        </p:nvPicPr>
        <p:blipFill>
          <a:blip r:embed="rId14"/>
          <a:stretch/>
        </p:blipFill>
        <p:spPr>
          <a:xfrm>
            <a:off x="533160" y="6330600"/>
            <a:ext cx="1534320" cy="148680"/>
          </a:xfrm>
          <a:prstGeom prst="rect">
            <a:avLst/>
          </a:prstGeom>
          <a:ln w="0">
            <a:noFill/>
          </a:ln>
        </p:spPr>
      </p:pic>
      <p:pic>
        <p:nvPicPr>
          <p:cNvPr id="84" name="Grafik 7"/>
          <p:cNvPicPr/>
          <p:nvPr/>
        </p:nvPicPr>
        <p:blipFill>
          <a:blip r:embed="rId15"/>
          <a:stretch/>
        </p:blipFill>
        <p:spPr>
          <a:xfrm>
            <a:off x="9462240" y="298080"/>
            <a:ext cx="2439360" cy="729360"/>
          </a:xfrm>
          <a:prstGeom prst="rect">
            <a:avLst/>
          </a:prstGeom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youtube.com/watch?v=nIZiZn91m-E" TargetMode="External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ustomShape 1"/>
          <p:cNvSpPr/>
          <p:nvPr/>
        </p:nvSpPr>
        <p:spPr>
          <a:xfrm>
            <a:off x="515880" y="532080"/>
            <a:ext cx="4690080" cy="459360"/>
          </a:xfrm>
          <a:custGeom>
            <a:avLst/>
            <a:gdLst/>
            <a:ahLst/>
            <a:cxnLst/>
            <a:rect l="l" t="t" r="r" b="b"/>
            <a:pathLst>
              <a:path w="3202047" h="460016">
                <a:moveTo>
                  <a:pt x="0" y="60385"/>
                </a:moveTo>
                <a:lnTo>
                  <a:pt x="3202047" y="0"/>
                </a:lnTo>
                <a:lnTo>
                  <a:pt x="3167541" y="416884"/>
                </a:lnTo>
                <a:lnTo>
                  <a:pt x="34505" y="460016"/>
                </a:lnTo>
                <a:lnTo>
                  <a:pt x="0" y="60385"/>
                </a:lnTo>
                <a:close/>
              </a:path>
            </a:pathLst>
          </a:cu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30" name="TextShape 2"/>
          <p:cNvSpPr/>
          <p:nvPr/>
        </p:nvSpPr>
        <p:spPr>
          <a:xfrm>
            <a:off x="515880" y="555840"/>
            <a:ext cx="11159280" cy="105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800" b="0" strike="noStrike" spc="-1">
                <a:solidFill>
                  <a:srgbClr val="FFFFFF"/>
                </a:solidFill>
                <a:latin typeface="AvantGarde Bk BT"/>
                <a:ea typeface="Verdana"/>
              </a:rPr>
              <a:t>Intelligent Robotics Lab</a:t>
            </a:r>
            <a:endParaRPr lang="en-US" sz="2800" b="0" strike="noStrike" spc="-1">
              <a:latin typeface="Arial"/>
            </a:endParaRPr>
          </a:p>
        </p:txBody>
      </p:sp>
      <p:sp>
        <p:nvSpPr>
          <p:cNvPr id="131" name="CustomShape 3"/>
          <p:cNvSpPr/>
          <p:nvPr/>
        </p:nvSpPr>
        <p:spPr>
          <a:xfrm>
            <a:off x="0" y="6795360"/>
            <a:ext cx="12191400" cy="7128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32" name="CustomShape 4"/>
          <p:cNvSpPr/>
          <p:nvPr/>
        </p:nvSpPr>
        <p:spPr>
          <a:xfrm>
            <a:off x="2194560" y="1691640"/>
            <a:ext cx="8228880" cy="1831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33" name="Picture 2" descr="http://tc-cham.hdu-deggendorf.de/images/stories/bildarchiv/bild_07_g.jpg"/>
          <p:cNvPicPr/>
          <p:nvPr/>
        </p:nvPicPr>
        <p:blipFill>
          <a:blip r:embed="rId3"/>
          <a:stretch/>
        </p:blipFill>
        <p:spPr>
          <a:xfrm>
            <a:off x="8891280" y="4327560"/>
            <a:ext cx="2218320" cy="1663560"/>
          </a:xfrm>
          <a:prstGeom prst="rect">
            <a:avLst/>
          </a:prstGeom>
          <a:ln w="0">
            <a:noFill/>
          </a:ln>
        </p:spPr>
      </p:pic>
      <p:pic>
        <p:nvPicPr>
          <p:cNvPr id="134" name="Grafik 11"/>
          <p:cNvPicPr/>
          <p:nvPr/>
        </p:nvPicPr>
        <p:blipFill>
          <a:blip r:embed="rId4"/>
          <a:stretch/>
        </p:blipFill>
        <p:spPr>
          <a:xfrm>
            <a:off x="6650280" y="4327560"/>
            <a:ext cx="2180160" cy="1665360"/>
          </a:xfrm>
          <a:prstGeom prst="rect">
            <a:avLst/>
          </a:prstGeom>
          <a:ln w="0">
            <a:noFill/>
          </a:ln>
        </p:spPr>
      </p:pic>
      <p:sp>
        <p:nvSpPr>
          <p:cNvPr id="135" name="CustomShape 5"/>
          <p:cNvSpPr/>
          <p:nvPr/>
        </p:nvSpPr>
        <p:spPr>
          <a:xfrm>
            <a:off x="1737360" y="1784160"/>
            <a:ext cx="9143640" cy="168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2400" b="1" strike="noStrike" spc="-1">
                <a:solidFill>
                  <a:srgbClr val="1A4273"/>
                </a:solidFill>
                <a:latin typeface="Verdana"/>
                <a:ea typeface="Verdana"/>
              </a:rPr>
              <a:t>Development of a SLAM and Autonomous Navigation System for a Self-Driving Car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136" name="Grafik 2"/>
          <p:cNvPicPr/>
          <p:nvPr/>
        </p:nvPicPr>
        <p:blipFill>
          <a:blip r:embed="rId5"/>
          <a:stretch/>
        </p:blipFill>
        <p:spPr>
          <a:xfrm>
            <a:off x="3406320" y="4335840"/>
            <a:ext cx="3182760" cy="1663920"/>
          </a:xfrm>
          <a:prstGeom prst="rect">
            <a:avLst/>
          </a:prstGeom>
          <a:ln w="0">
            <a:noFill/>
          </a:ln>
        </p:spPr>
      </p:pic>
      <p:pic>
        <p:nvPicPr>
          <p:cNvPr id="137" name="Grafik 4"/>
          <p:cNvPicPr/>
          <p:nvPr/>
        </p:nvPicPr>
        <p:blipFill>
          <a:blip r:embed="rId6"/>
          <a:srcRect l="11370" t="11398" r="16394" b="13094"/>
          <a:stretch/>
        </p:blipFill>
        <p:spPr>
          <a:xfrm>
            <a:off x="989640" y="4335840"/>
            <a:ext cx="2355480" cy="1641240"/>
          </a:xfrm>
          <a:prstGeom prst="rect">
            <a:avLst/>
          </a:prstGeom>
          <a:ln w="0">
            <a:noFill/>
          </a:ln>
        </p:spPr>
      </p:pic>
      <p:sp>
        <p:nvSpPr>
          <p:cNvPr id="138" name="CustomShape 6"/>
          <p:cNvSpPr/>
          <p:nvPr/>
        </p:nvSpPr>
        <p:spPr>
          <a:xfrm>
            <a:off x="7274160" y="3523680"/>
            <a:ext cx="4289400" cy="83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1400" b="0" strike="noStrike" spc="-1">
                <a:solidFill>
                  <a:srgbClr val="1A4273"/>
                </a:solidFill>
                <a:latin typeface="Verdana"/>
                <a:ea typeface="Verdana"/>
              </a:rPr>
              <a:t>Student: Amit Sajeev</a:t>
            </a:r>
            <a:endParaRPr lang="en-US" sz="1400" b="0" strike="noStrike" spc="-1">
              <a:latin typeface="Arial"/>
            </a:endParaRPr>
          </a:p>
          <a:p>
            <a:pPr algn="ctr">
              <a:lnSpc>
                <a:spcPct val="150000"/>
              </a:lnSpc>
              <a:buNone/>
            </a:pPr>
            <a:r>
              <a:rPr lang="en-US" sz="1400" b="0" strike="noStrike" spc="-1">
                <a:solidFill>
                  <a:srgbClr val="1A4273"/>
                </a:solidFill>
                <a:latin typeface="Verdana"/>
                <a:ea typeface="Verdana"/>
              </a:rPr>
              <a:t>Supervisor: Prof. Dr. Dmitrii Dobriborsci</a:t>
            </a:r>
            <a:endParaRPr lang="en-US" sz="1400" b="0" strike="noStrike" spc="-1">
              <a:latin typeface="Arial"/>
            </a:endParaRPr>
          </a:p>
          <a:p>
            <a:pPr algn="ctr">
              <a:lnSpc>
                <a:spcPct val="150000"/>
              </a:lnSpc>
              <a:buNone/>
            </a:pPr>
            <a:endParaRPr lang="en-US" sz="1400" b="0" strike="noStrike" spc="-1">
              <a:latin typeface="Arial"/>
            </a:endParaRPr>
          </a:p>
        </p:txBody>
      </p:sp>
      <p:sp>
        <p:nvSpPr>
          <p:cNvPr id="139" name="TextBox 1"/>
          <p:cNvSpPr/>
          <p:nvPr/>
        </p:nvSpPr>
        <p:spPr>
          <a:xfrm>
            <a:off x="6499080" y="2879280"/>
            <a:ext cx="34045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sz="1800" b="1" strike="noStrike" spc="-1">
                <a:solidFill>
                  <a:srgbClr val="000000"/>
                </a:solidFill>
                <a:latin typeface="Arial"/>
                <a:ea typeface="DejaVu Sans"/>
              </a:rPr>
              <a:t>Deadline: September 14, 2026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2160" y="288360"/>
            <a:ext cx="6597720" cy="455400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1467000" algn="l"/>
              </a:tabLst>
            </a:pPr>
            <a:r>
              <a:rPr lang="de-DE" sz="2400" b="1" strike="noStrike" spc="-1">
                <a:solidFill>
                  <a:srgbClr val="1A4273"/>
                </a:solidFill>
                <a:latin typeface="AvantGarde Md BT"/>
                <a:ea typeface="DejaVu Sans"/>
              </a:rPr>
              <a:t>           Problem definition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141" name="Picture 5" descr="I:\arrow.GIF"/>
          <p:cNvPicPr/>
          <p:nvPr/>
        </p:nvPicPr>
        <p:blipFill>
          <a:blip r:embed="rId3"/>
          <a:stretch/>
        </p:blipFill>
        <p:spPr>
          <a:xfrm>
            <a:off x="499680" y="394200"/>
            <a:ext cx="275400" cy="275400"/>
          </a:xfrm>
          <a:prstGeom prst="rect">
            <a:avLst/>
          </a:prstGeom>
          <a:ln w="0">
            <a:noFill/>
          </a:ln>
        </p:spPr>
      </p:pic>
      <p:sp>
        <p:nvSpPr>
          <p:cNvPr id="142" name="CustomShape 2"/>
          <p:cNvSpPr/>
          <p:nvPr/>
        </p:nvSpPr>
        <p:spPr>
          <a:xfrm>
            <a:off x="903924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45C8C71C-68E2-4323-9991-FD6DE535CC20}" type="slidenum">
              <a:rPr lang="de-DE" sz="1200" b="0" strike="noStrike" spc="-1">
                <a:solidFill>
                  <a:srgbClr val="8B8B8B"/>
                </a:solidFill>
                <a:latin typeface="Aptos"/>
                <a:ea typeface="DejaVu Sans"/>
              </a:rPr>
              <a:t>2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143" name="CustomShape 3"/>
          <p:cNvSpPr/>
          <p:nvPr/>
        </p:nvSpPr>
        <p:spPr>
          <a:xfrm>
            <a:off x="135720" y="1555920"/>
            <a:ext cx="11485800" cy="41535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ea typeface="Verdana"/>
              </a:rPr>
              <a:t>Develop a SLAM and Autonomous Navigation System for a Self-Driving Car</a:t>
            </a:r>
            <a:endParaRPr lang="en-US" sz="2400" b="0" strike="noStrike" spc="-1" dirty="0"/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ea typeface="Verdana"/>
              </a:rPr>
              <a:t>ROS2-based autonomous navigation system for the </a:t>
            </a:r>
            <a:r>
              <a:rPr lang="en-US" sz="2400" b="0" strike="noStrike" spc="-1" dirty="0" err="1">
                <a:solidFill>
                  <a:srgbClr val="000000"/>
                </a:solidFill>
                <a:ea typeface="Verdana"/>
              </a:rPr>
              <a:t>Quanser</a:t>
            </a:r>
            <a:r>
              <a:rPr lang="en-US" sz="2400" b="0" strike="noStrike" spc="-1" dirty="0">
                <a:solidFill>
                  <a:srgbClr val="000000"/>
                </a:solidFill>
                <a:ea typeface="Verdan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ea typeface="Verdana"/>
              </a:rPr>
              <a:t>QCar</a:t>
            </a:r>
            <a:r>
              <a:rPr lang="en-US" sz="2400" b="0" strike="noStrike" spc="-1" dirty="0">
                <a:solidFill>
                  <a:srgbClr val="000000"/>
                </a:solidFill>
                <a:ea typeface="Verdana"/>
              </a:rPr>
              <a:t> by integrating sensor fusion</a:t>
            </a:r>
            <a:endParaRPr lang="en-US" sz="2400" b="0" strike="noStrike" spc="-1" dirty="0"/>
          </a:p>
          <a:p>
            <a:pPr marL="285840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ea typeface="Verdana"/>
              </a:rPr>
              <a:t>Problem statement</a:t>
            </a:r>
            <a:endParaRPr lang="en-US" sz="2400" b="0" strike="noStrike" spc="-1" dirty="0"/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ea typeface="Verdana"/>
              </a:rPr>
              <a:t>Building a complete stack for a self driving car</a:t>
            </a:r>
            <a:endParaRPr lang="en-US" sz="2400" b="0" strike="noStrike" spc="-1" dirty="0"/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ea typeface="Verdana"/>
              </a:rPr>
              <a:t>To fuse different sensor data into the environment to localize and navigate the car in real time.</a:t>
            </a:r>
            <a:endParaRPr lang="en-US" sz="2400" b="0" strike="noStrike" spc="-1" dirty="0"/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ea typeface="Verdana"/>
              </a:rPr>
              <a:t>Design architecture for ROS2 and implement SLAM</a:t>
            </a:r>
            <a:endParaRPr lang="en-US" sz="2400" b="0" strike="noStrike" spc="-1" dirty="0"/>
          </a:p>
          <a:p>
            <a:pPr marL="285840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ea typeface="Verdana"/>
              </a:rPr>
              <a:t>Scope</a:t>
            </a:r>
            <a:endParaRPr lang="en-US" sz="2400" b="0" strike="noStrike" spc="-1" dirty="0"/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ea typeface="Verdana"/>
              </a:rPr>
              <a:t>Deliverables: ROS2 Humble simulation environment, </a:t>
            </a:r>
            <a:r>
              <a:rPr lang="en-GB" sz="2400" b="0" strike="noStrike" spc="-1" dirty="0" err="1">
                <a:solidFill>
                  <a:srgbClr val="000000"/>
                </a:solidFill>
                <a:ea typeface="Verdana"/>
              </a:rPr>
              <a:t>QCar</a:t>
            </a:r>
            <a:r>
              <a:rPr lang="en-GB" sz="2400" b="0" strike="noStrike" spc="-1" dirty="0">
                <a:solidFill>
                  <a:srgbClr val="000000"/>
                </a:solidFill>
                <a:ea typeface="Verdana"/>
              </a:rPr>
              <a:t> URDF model, ros2_control joint controllers, RViz visualization, documented repository</a:t>
            </a:r>
            <a:endParaRPr lang="en-US" sz="2400" b="0" strike="noStrike" spc="-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ustomShape 1"/>
          <p:cNvSpPr/>
          <p:nvPr/>
        </p:nvSpPr>
        <p:spPr>
          <a:xfrm>
            <a:off x="2160" y="288360"/>
            <a:ext cx="6597720" cy="455400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1467000" algn="l"/>
              </a:tabLst>
            </a:pPr>
            <a:r>
              <a:rPr lang="de-DE" sz="2400" b="1" strike="noStrike" spc="-1">
                <a:solidFill>
                  <a:srgbClr val="1A4273"/>
                </a:solidFill>
                <a:latin typeface="AvantGarde Md BT"/>
                <a:ea typeface="DejaVu Sans"/>
              </a:rPr>
              <a:t>           Thesis goal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145" name="Picture 5" descr="I:\arrow.GIF"/>
          <p:cNvPicPr/>
          <p:nvPr/>
        </p:nvPicPr>
        <p:blipFill>
          <a:blip r:embed="rId3"/>
          <a:stretch/>
        </p:blipFill>
        <p:spPr>
          <a:xfrm>
            <a:off x="499680" y="394200"/>
            <a:ext cx="275400" cy="275400"/>
          </a:xfrm>
          <a:prstGeom prst="rect">
            <a:avLst/>
          </a:prstGeom>
          <a:ln w="0">
            <a:noFill/>
          </a:ln>
        </p:spPr>
      </p:pic>
      <p:sp>
        <p:nvSpPr>
          <p:cNvPr id="146" name="CustomShape 2"/>
          <p:cNvSpPr/>
          <p:nvPr/>
        </p:nvSpPr>
        <p:spPr>
          <a:xfrm>
            <a:off x="903924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740FD9C5-05F2-4049-A821-6F6783AB82D2}" type="slidenum">
              <a:rPr lang="de-DE" sz="1200" b="0" strike="noStrike" spc="-1">
                <a:solidFill>
                  <a:srgbClr val="8B8B8B"/>
                </a:solidFill>
                <a:latin typeface="Aptos"/>
                <a:ea typeface="DejaVu Sans"/>
              </a:rPr>
              <a:t>3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147" name="CustomShape 3"/>
          <p:cNvSpPr/>
          <p:nvPr/>
        </p:nvSpPr>
        <p:spPr>
          <a:xfrm>
            <a:off x="319320" y="1083240"/>
            <a:ext cx="11272680" cy="27377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1" strike="noStrike" spc="-1" dirty="0">
                <a:solidFill>
                  <a:srgbClr val="000000"/>
                </a:solidFill>
                <a:ea typeface="Verdana"/>
              </a:rPr>
              <a:t>Main objective</a:t>
            </a:r>
            <a:endParaRPr lang="en-US" sz="1800" b="0" strike="noStrike" spc="-1" dirty="0"/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ea typeface="Verdana"/>
              </a:rPr>
              <a:t>Design and implement a ROS2-based perception and navigation system for the </a:t>
            </a:r>
            <a:r>
              <a:rPr lang="en-US" sz="2000" b="0" strike="noStrike" spc="-1" dirty="0" err="1">
                <a:solidFill>
                  <a:srgbClr val="000000"/>
                </a:solidFill>
                <a:ea typeface="Verdana"/>
              </a:rPr>
              <a:t>Quanser</a:t>
            </a:r>
            <a:r>
              <a:rPr lang="en-US" sz="2000" b="0" strike="noStrike" spc="-1" dirty="0">
                <a:solidFill>
                  <a:srgbClr val="000000"/>
                </a:solidFill>
                <a:ea typeface="Verdan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ea typeface="Verdana"/>
              </a:rPr>
              <a:t>QCar</a:t>
            </a:r>
            <a:r>
              <a:rPr lang="en-US" sz="2000" b="0" strike="noStrike" spc="-1" dirty="0">
                <a:solidFill>
                  <a:srgbClr val="000000"/>
                </a:solidFill>
                <a:ea typeface="Verdana"/>
              </a:rPr>
              <a:t>, enabling real-time SLAM, localization and autonomous indoor driving.</a:t>
            </a:r>
            <a:endParaRPr lang="en-US" sz="2000" b="0" strike="noStrike" spc="-1" dirty="0"/>
          </a:p>
          <a:p>
            <a:pPr>
              <a:lnSpc>
                <a:spcPct val="100000"/>
              </a:lnSpc>
              <a:buNone/>
            </a:pPr>
            <a:endParaRPr lang="en-US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1" strike="noStrike" spc="-1" dirty="0">
                <a:solidFill>
                  <a:srgbClr val="000000"/>
                </a:solidFill>
                <a:ea typeface="Verdana"/>
              </a:rPr>
              <a:t>Sub-objectives</a:t>
            </a:r>
            <a:endParaRPr lang="en-US" sz="1800" b="0" strike="noStrike" spc="-1" dirty="0"/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0000"/>
                </a:solidFill>
                <a:ea typeface="Verdana"/>
              </a:rPr>
              <a:t>Sensor characterization and time-synchronized data acquisition (LiDAR, IMU, encoders, camera)</a:t>
            </a:r>
            <a:endParaRPr lang="en-US" sz="1800" b="0" strike="noStrike" spc="-1" dirty="0"/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0000"/>
                </a:solidFill>
                <a:ea typeface="Verdana"/>
              </a:rPr>
              <a:t>Multi-sensor fusion for state estimation using EKF/UKF (</a:t>
            </a:r>
            <a:r>
              <a:rPr lang="en-US" sz="1800" b="1" strike="noStrike" spc="-1" dirty="0" err="1">
                <a:solidFill>
                  <a:srgbClr val="000000"/>
                </a:solidFill>
                <a:ea typeface="Verdana"/>
              </a:rPr>
              <a:t>robot_localization</a:t>
            </a:r>
            <a:r>
              <a:rPr lang="en-US" sz="1800" b="1" strike="noStrike" spc="-1" dirty="0">
                <a:solidFill>
                  <a:srgbClr val="000000"/>
                </a:solidFill>
                <a:ea typeface="Verdana"/>
              </a:rPr>
              <a:t> package)</a:t>
            </a:r>
            <a:endParaRPr lang="en-US" sz="1800" b="0" strike="noStrike" spc="-1" dirty="0"/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0000"/>
                </a:solidFill>
                <a:ea typeface="Verdana"/>
              </a:rPr>
              <a:t>Evaluate and configure ROS2-compatible SLAM algorithms (Cartographer, KISS-ICP, </a:t>
            </a:r>
            <a:r>
              <a:rPr lang="en-US" sz="1800" b="1" strike="noStrike" spc="-1" dirty="0" err="1">
                <a:solidFill>
                  <a:srgbClr val="000000"/>
                </a:solidFill>
                <a:ea typeface="Verdana"/>
              </a:rPr>
              <a:t>gmapping</a:t>
            </a:r>
            <a:r>
              <a:rPr lang="en-US" sz="1800" b="1" strike="noStrike" spc="-1" dirty="0">
                <a:solidFill>
                  <a:srgbClr val="000000"/>
                </a:solidFill>
                <a:ea typeface="Verdana"/>
              </a:rPr>
              <a:t>)</a:t>
            </a:r>
            <a:endParaRPr lang="en-US" sz="1800" b="0" strike="noStrike" spc="-1" dirty="0"/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0000"/>
                </a:solidFill>
                <a:ea typeface="Verdana"/>
              </a:rPr>
              <a:t>Integrate Nav2 for autonomous path planning and obstacle avoidance on the </a:t>
            </a:r>
            <a:r>
              <a:rPr lang="en-US" sz="1800" b="1" strike="noStrike" spc="-1" dirty="0" err="1">
                <a:solidFill>
                  <a:srgbClr val="000000"/>
                </a:solidFill>
                <a:ea typeface="Verdana"/>
              </a:rPr>
              <a:t>QCar</a:t>
            </a:r>
            <a:endParaRPr lang="en-US" sz="1800" b="0" strike="noStrike" spc="-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CustomShape 1"/>
          <p:cNvSpPr/>
          <p:nvPr/>
        </p:nvSpPr>
        <p:spPr>
          <a:xfrm>
            <a:off x="2160" y="288360"/>
            <a:ext cx="6597720" cy="455400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1467000" algn="l"/>
              </a:tabLst>
            </a:pPr>
            <a:r>
              <a:rPr lang="de-DE" sz="2400" b="1" strike="noStrike" spc="-1">
                <a:solidFill>
                  <a:srgbClr val="1A4273"/>
                </a:solidFill>
                <a:latin typeface="AvantGarde Md BT"/>
                <a:ea typeface="DejaVu Sans"/>
              </a:rPr>
              <a:t>           Plan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149" name="Picture 5" descr="I:\arrow.GIF"/>
          <p:cNvPicPr/>
          <p:nvPr/>
        </p:nvPicPr>
        <p:blipFill>
          <a:blip r:embed="rId3"/>
          <a:stretch/>
        </p:blipFill>
        <p:spPr>
          <a:xfrm>
            <a:off x="499680" y="394200"/>
            <a:ext cx="275400" cy="275400"/>
          </a:xfrm>
          <a:prstGeom prst="rect">
            <a:avLst/>
          </a:prstGeom>
          <a:ln w="0">
            <a:noFill/>
          </a:ln>
        </p:spPr>
      </p:pic>
      <p:sp>
        <p:nvSpPr>
          <p:cNvPr id="150" name="CustomShape 2"/>
          <p:cNvSpPr/>
          <p:nvPr/>
        </p:nvSpPr>
        <p:spPr>
          <a:xfrm>
            <a:off x="903924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8290D25-DB43-4985-8A96-BB91D52F03C9}" type="slidenum">
              <a:rPr lang="de-DE" sz="1200" b="0" strike="noStrike" spc="-1">
                <a:solidFill>
                  <a:srgbClr val="8B8B8B"/>
                </a:solidFill>
                <a:latin typeface="Aptos"/>
                <a:ea typeface="DejaVu Sans"/>
              </a:rPr>
              <a:t>4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151" name="CustomShape 3"/>
          <p:cNvSpPr/>
          <p:nvPr/>
        </p:nvSpPr>
        <p:spPr>
          <a:xfrm>
            <a:off x="319320" y="1083240"/>
            <a:ext cx="70480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1" strike="noStrike" spc="-1">
                <a:solidFill>
                  <a:srgbClr val="000000"/>
                </a:solidFill>
                <a:latin typeface="Verdana"/>
                <a:ea typeface="Verdana"/>
              </a:rPr>
              <a:t>Plan for the last 2 weeks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52" name="CustomShape 4"/>
          <p:cNvSpPr/>
          <p:nvPr/>
        </p:nvSpPr>
        <p:spPr>
          <a:xfrm>
            <a:off x="257040" y="1447920"/>
            <a:ext cx="11403720" cy="34764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ea typeface="Verdana"/>
              </a:rPr>
              <a:t>Expected tasks</a:t>
            </a:r>
            <a:endParaRPr lang="en-US" sz="2000" b="0" strike="noStrike" spc="-1" dirty="0"/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ea typeface="Verdana"/>
              </a:rPr>
              <a:t>T1: Fix </a:t>
            </a:r>
            <a:r>
              <a:rPr lang="en-US" sz="2000" b="0" strike="noStrike" spc="-1">
                <a:solidFill>
                  <a:srgbClr val="000000"/>
                </a:solidFill>
                <a:ea typeface="Verdana"/>
              </a:rPr>
              <a:t>navigation inaccuracy</a:t>
            </a:r>
            <a:endParaRPr lang="en-US" sz="2000" b="0" strike="noStrike" spc="-1" dirty="0">
              <a:solidFill>
                <a:srgbClr val="000000"/>
              </a:solidFill>
              <a:ea typeface="Verdana"/>
            </a:endParaRP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spc="-1" dirty="0">
                <a:solidFill>
                  <a:srgbClr val="000000"/>
                </a:solidFill>
                <a:ea typeface="Verdana"/>
              </a:rPr>
              <a:t>T2: </a:t>
            </a:r>
            <a:r>
              <a:rPr lang="en-US" sz="2000" b="0" strike="noStrike" spc="-1" dirty="0">
                <a:solidFill>
                  <a:srgbClr val="000000"/>
                </a:solidFill>
                <a:ea typeface="Verdana"/>
              </a:rPr>
              <a:t>Replace hand-rolled converter with </a:t>
            </a:r>
            <a:r>
              <a:rPr lang="en-US" sz="2000" b="0" strike="noStrike" spc="-1" dirty="0" err="1">
                <a:solidFill>
                  <a:srgbClr val="000000"/>
                </a:solidFill>
                <a:ea typeface="Verdana"/>
              </a:rPr>
              <a:t>ackermann_steering_controller</a:t>
            </a:r>
            <a:r>
              <a:rPr lang="en-US" sz="2000" b="0" strike="noStrike" spc="-1" dirty="0">
                <a:solidFill>
                  <a:srgbClr val="000000"/>
                </a:solidFill>
                <a:ea typeface="Verdana"/>
              </a:rPr>
              <a:t> (ros2_control)</a:t>
            </a: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ea typeface="Verdana"/>
              </a:rPr>
              <a:t>T3: Switch to </a:t>
            </a:r>
            <a:r>
              <a:rPr lang="en-US" sz="2000" b="0" strike="noStrike" spc="-1" dirty="0" err="1">
                <a:solidFill>
                  <a:srgbClr val="000000"/>
                </a:solidFill>
                <a:ea typeface="Verdana"/>
              </a:rPr>
              <a:t>gazebo_ros_ackermann_drive</a:t>
            </a:r>
            <a:r>
              <a:rPr lang="en-US" sz="2000" b="0" strike="noStrike" spc="-1" dirty="0">
                <a:solidFill>
                  <a:srgbClr val="000000"/>
                </a:solidFill>
                <a:ea typeface="Verdana"/>
              </a:rPr>
              <a:t> plugin for native Ackermann kinematics + odometry</a:t>
            </a: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ea typeface="Verdana"/>
              </a:rPr>
              <a:t>T4: Fix wheel collision geometry and friction for correct physics</a:t>
            </a: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ea typeface="Verdana"/>
              </a:rPr>
              <a:t>T5: Tune Nav2 planner and controller for Ackermann vehicle</a:t>
            </a: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ea typeface="Verdana"/>
              </a:rPr>
              <a:t>T6: Begin hardware integration</a:t>
            </a: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US" sz="2000" b="0" strike="noStrike" spc="-1" dirty="0"/>
          </a:p>
          <a:p>
            <a:pPr marL="285840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ea typeface="Verdana"/>
              </a:rPr>
              <a:t>Connection to the milestones:</a:t>
            </a:r>
            <a:endParaRPr lang="en-US" sz="2000" b="0" strike="noStrike" spc="-1" dirty="0"/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ea typeface="Verdana"/>
              </a:rPr>
              <a:t>M6: Kinematically correct Ackermann simulation stack</a:t>
            </a:r>
            <a:endParaRPr lang="en-US" sz="2000" b="0" strike="noStrike" spc="-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ustomShape 1"/>
          <p:cNvSpPr/>
          <p:nvPr/>
        </p:nvSpPr>
        <p:spPr>
          <a:xfrm>
            <a:off x="2160" y="288360"/>
            <a:ext cx="6597720" cy="455400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1467000" algn="l"/>
              </a:tabLst>
            </a:pPr>
            <a:r>
              <a:rPr lang="de-DE" sz="2400" b="1" strike="noStrike" spc="-1">
                <a:solidFill>
                  <a:srgbClr val="1A4273"/>
                </a:solidFill>
                <a:latin typeface="AvantGarde Md BT"/>
                <a:ea typeface="DejaVu Sans"/>
              </a:rPr>
              <a:t>           Progress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154" name="Picture 5" descr="I:\arrow.GIF"/>
          <p:cNvPicPr/>
          <p:nvPr/>
        </p:nvPicPr>
        <p:blipFill>
          <a:blip r:embed="rId3"/>
          <a:stretch/>
        </p:blipFill>
        <p:spPr>
          <a:xfrm>
            <a:off x="499680" y="394200"/>
            <a:ext cx="275400" cy="275400"/>
          </a:xfrm>
          <a:prstGeom prst="rect">
            <a:avLst/>
          </a:prstGeom>
          <a:ln w="0">
            <a:noFill/>
          </a:ln>
        </p:spPr>
      </p:pic>
      <p:sp>
        <p:nvSpPr>
          <p:cNvPr id="155" name="CustomShape 2"/>
          <p:cNvSpPr/>
          <p:nvPr/>
        </p:nvSpPr>
        <p:spPr>
          <a:xfrm>
            <a:off x="903924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0B89A58C-5836-431C-9826-5B53054788E4}" type="slidenum">
              <a:rPr lang="de-DE" sz="1200" b="0" strike="noStrike" spc="-1">
                <a:solidFill>
                  <a:srgbClr val="8B8B8B"/>
                </a:solidFill>
                <a:latin typeface="Aptos"/>
                <a:ea typeface="DejaVu Sans"/>
              </a:rPr>
              <a:t>5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156" name="CustomShape 3"/>
          <p:cNvSpPr/>
          <p:nvPr/>
        </p:nvSpPr>
        <p:spPr>
          <a:xfrm>
            <a:off x="319680" y="995400"/>
            <a:ext cx="62802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1" strike="noStrike" spc="-1">
                <a:solidFill>
                  <a:srgbClr val="000000"/>
                </a:solidFill>
                <a:latin typeface="Verdana"/>
                <a:ea typeface="Verdana"/>
              </a:rPr>
              <a:t>Work completed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57" name="CustomShape 4"/>
          <p:cNvSpPr/>
          <p:nvPr/>
        </p:nvSpPr>
        <p:spPr>
          <a:xfrm>
            <a:off x="540360" y="1359720"/>
            <a:ext cx="11241360" cy="35533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strike="noStrike" spc="-1" dirty="0">
                <a:solidFill>
                  <a:srgbClr val="000000"/>
                </a:solidFill>
                <a:ea typeface="Verdana"/>
              </a:rPr>
              <a:t>Completed tasks</a:t>
            </a:r>
            <a:endParaRPr lang="en-US" sz="1500" b="0" strike="noStrike" spc="-1" dirty="0"/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strike="noStrike" spc="-1" dirty="0">
                <a:solidFill>
                  <a:srgbClr val="000000"/>
                </a:solidFill>
                <a:ea typeface="Verdana"/>
              </a:rPr>
              <a:t>T1: Replaced cmd_vel_to_drive.py + dual joint controllers with </a:t>
            </a:r>
            <a:r>
              <a:rPr lang="en-US" sz="1500" b="0" strike="noStrike" spc="-1" dirty="0" err="1">
                <a:solidFill>
                  <a:srgbClr val="000000"/>
                </a:solidFill>
                <a:ea typeface="Verdana"/>
              </a:rPr>
              <a:t>ackermann_steering_controller</a:t>
            </a:r>
            <a:endParaRPr lang="en-US" sz="1500" b="0" strike="noStrike" spc="-1" dirty="0">
              <a:solidFill>
                <a:srgbClr val="000000"/>
              </a:solidFill>
              <a:ea typeface="Verdana"/>
            </a:endParaRP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strike="noStrike" spc="-1" dirty="0">
                <a:solidFill>
                  <a:srgbClr val="000000"/>
                </a:solidFill>
                <a:ea typeface="Verdana"/>
              </a:rPr>
              <a:t>T2: Replaced </a:t>
            </a:r>
            <a:r>
              <a:rPr lang="en-US" sz="1500" b="0" strike="noStrike" spc="-1" dirty="0" err="1">
                <a:solidFill>
                  <a:srgbClr val="000000"/>
                </a:solidFill>
                <a:ea typeface="Verdana"/>
              </a:rPr>
              <a:t>ackermann_steering_controller</a:t>
            </a:r>
            <a:r>
              <a:rPr lang="en-US" sz="1500" b="0" strike="noStrike" spc="-1" dirty="0">
                <a:solidFill>
                  <a:srgbClr val="000000"/>
                </a:solidFill>
                <a:ea typeface="Verdana"/>
              </a:rPr>
              <a:t> with </a:t>
            </a:r>
            <a:r>
              <a:rPr lang="en-US" sz="1500" b="0" strike="noStrike" spc="-1" dirty="0" err="1">
                <a:solidFill>
                  <a:srgbClr val="000000"/>
                </a:solidFill>
                <a:ea typeface="Verdana"/>
              </a:rPr>
              <a:t>gazebo_ros_ackermann_drive</a:t>
            </a:r>
            <a:r>
              <a:rPr lang="en-US" sz="1500" b="0" strike="noStrike" spc="-1" dirty="0">
                <a:solidFill>
                  <a:srgbClr val="000000"/>
                </a:solidFill>
                <a:ea typeface="Verdana"/>
              </a:rPr>
              <a:t> plugin - simpler architecture, native /</a:t>
            </a:r>
            <a:r>
              <a:rPr lang="en-US" sz="1500" b="0" strike="noStrike" spc="-1" dirty="0" err="1">
                <a:solidFill>
                  <a:srgbClr val="000000"/>
                </a:solidFill>
                <a:ea typeface="Verdana"/>
              </a:rPr>
              <a:t>odom</a:t>
            </a:r>
            <a:r>
              <a:rPr lang="en-US" sz="1500" b="0" strike="noStrike" spc="-1" dirty="0">
                <a:solidFill>
                  <a:srgbClr val="000000"/>
                </a:solidFill>
                <a:ea typeface="Verdana"/>
              </a:rPr>
              <a:t> and TF publishing, no relay nodes</a:t>
            </a: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strike="noStrike" spc="-1" dirty="0">
                <a:solidFill>
                  <a:srgbClr val="000000"/>
                </a:solidFill>
                <a:ea typeface="Verdana"/>
              </a:rPr>
              <a:t>T3: Fixed three physics bugs exposed by plugin: wheel collision meshes (plugin couldn't read radius → robot couldn't move), zero wheel friction, steering PID gains too weak</a:t>
            </a: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strike="noStrike" spc="-1" dirty="0">
                <a:solidFill>
                  <a:srgbClr val="000000"/>
                </a:solidFill>
                <a:ea typeface="Verdana"/>
              </a:rPr>
              <a:t>T4: Restructured the behavior tree</a:t>
            </a: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strike="noStrike" spc="-1" dirty="0">
                <a:solidFill>
                  <a:srgbClr val="000000"/>
                </a:solidFill>
                <a:ea typeface="Verdana"/>
              </a:rPr>
              <a:t>T5: Switched global planner from </a:t>
            </a:r>
            <a:r>
              <a:rPr lang="en-US" sz="1500" b="0" strike="noStrike" spc="-1" dirty="0" err="1">
                <a:solidFill>
                  <a:srgbClr val="000000"/>
                </a:solidFill>
                <a:ea typeface="Verdana"/>
              </a:rPr>
              <a:t>NavFn</a:t>
            </a:r>
            <a:r>
              <a:rPr lang="en-US" sz="1500" b="0" strike="noStrike" spc="-1" dirty="0">
                <a:solidFill>
                  <a:srgbClr val="000000"/>
                </a:solidFill>
                <a:ea typeface="Verdana"/>
              </a:rPr>
              <a:t> (Dijkstra) to </a:t>
            </a:r>
            <a:r>
              <a:rPr lang="en-US" sz="1500" b="0" strike="noStrike" spc="-1" dirty="0" err="1">
                <a:solidFill>
                  <a:srgbClr val="000000"/>
                </a:solidFill>
                <a:ea typeface="Verdana"/>
              </a:rPr>
              <a:t>Smac</a:t>
            </a:r>
            <a:r>
              <a:rPr lang="en-US" sz="1500" b="0" strike="noStrike" spc="-1" dirty="0">
                <a:solidFill>
                  <a:srgbClr val="000000"/>
                </a:solidFill>
                <a:ea typeface="Verdana"/>
              </a:rPr>
              <a:t> - heading-aware planning with K-turn/reversal support; resolved root cause of goal-approach oscillation</a:t>
            </a: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strike="noStrike" spc="-1" dirty="0">
                <a:solidFill>
                  <a:srgbClr val="000000"/>
                </a:solidFill>
                <a:ea typeface="Verdana"/>
              </a:rPr>
              <a:t>T6: Replaced local controller from Regulated Pure Pursuit to MPPI</a:t>
            </a: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strike="noStrike" spc="-1" dirty="0">
                <a:solidFill>
                  <a:srgbClr val="000000"/>
                </a:solidFill>
                <a:ea typeface="Verdana"/>
              </a:rPr>
              <a:t>T7: Fixed MPPI collision checking - was checking robot center only, not actual rectangular car frame</a:t>
            </a: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strike="noStrike" spc="-1" dirty="0">
                <a:solidFill>
                  <a:srgbClr val="000000"/>
                </a:solidFill>
                <a:ea typeface="Verdana"/>
              </a:rPr>
              <a:t>T8: Fixed </a:t>
            </a:r>
            <a:r>
              <a:rPr lang="en-US" sz="1500" b="0" strike="noStrike" spc="-1" dirty="0" err="1">
                <a:solidFill>
                  <a:srgbClr val="000000"/>
                </a:solidFill>
                <a:ea typeface="Verdana"/>
              </a:rPr>
              <a:t>enforce_path_inversion</a:t>
            </a:r>
            <a:r>
              <a:rPr lang="en-US" sz="1500" b="0" strike="noStrike" spc="-1" dirty="0">
                <a:solidFill>
                  <a:srgbClr val="000000"/>
                </a:solidFill>
                <a:ea typeface="Verdana"/>
              </a:rPr>
              <a:t> flag - MPPI was not handling planned reversal segments correctly</a:t>
            </a: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strike="noStrike" spc="-1" dirty="0">
                <a:solidFill>
                  <a:srgbClr val="000000"/>
                </a:solidFill>
                <a:ea typeface="Verdana"/>
              </a:rPr>
              <a:t>T9: Tuned AMCL for localization jitter - ruled out vehicle physics as cause of remaining failures</a:t>
            </a: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strike="noStrike" spc="-1" dirty="0">
                <a:solidFill>
                  <a:srgbClr val="000000"/>
                </a:solidFill>
                <a:ea typeface="Verdana"/>
              </a:rPr>
              <a:t>T10: Removed </a:t>
            </a:r>
            <a:r>
              <a:rPr lang="en-US" sz="1500" b="0" strike="noStrike" spc="-1" dirty="0" err="1">
                <a:solidFill>
                  <a:srgbClr val="000000"/>
                </a:solidFill>
                <a:ea typeface="Verdana"/>
              </a:rPr>
              <a:t>PreferForwardCritic</a:t>
            </a:r>
            <a:r>
              <a:rPr lang="en-US" sz="1500" b="0" strike="noStrike" spc="-1" dirty="0">
                <a:solidFill>
                  <a:srgbClr val="000000"/>
                </a:solidFill>
                <a:ea typeface="Verdana"/>
              </a:rPr>
              <a:t> as it was directly fighting the planner's own decisions</a:t>
            </a: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strike="noStrike" spc="-1" dirty="0">
                <a:solidFill>
                  <a:srgbClr val="000000"/>
                </a:solidFill>
                <a:ea typeface="Verdana"/>
              </a:rPr>
              <a:t>T11: Fixed turns early into curve - two separate critics targeting look-ahead points past the curve start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8AF1D-5C26-BB02-1AED-6FB06BABF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ustomShape 1">
            <a:extLst>
              <a:ext uri="{FF2B5EF4-FFF2-40B4-BE49-F238E27FC236}">
                <a16:creationId xmlns:a16="http://schemas.microsoft.com/office/drawing/2014/main" id="{9742EBE8-1C53-2F79-4094-9153488642C5}"/>
              </a:ext>
            </a:extLst>
          </p:cNvPr>
          <p:cNvSpPr/>
          <p:nvPr/>
        </p:nvSpPr>
        <p:spPr>
          <a:xfrm>
            <a:off x="2160" y="288360"/>
            <a:ext cx="6597720" cy="455400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1467000" algn="l"/>
              </a:tabLst>
            </a:pPr>
            <a:r>
              <a:rPr lang="de-DE" sz="2400" b="1" strike="noStrike" spc="-1">
                <a:solidFill>
                  <a:srgbClr val="1A4273"/>
                </a:solidFill>
                <a:latin typeface="AvantGarde Md BT"/>
                <a:ea typeface="DejaVu Sans"/>
              </a:rPr>
              <a:t>           Progress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154" name="Picture 5" descr="I:\arrow.GIF">
            <a:extLst>
              <a:ext uri="{FF2B5EF4-FFF2-40B4-BE49-F238E27FC236}">
                <a16:creationId xmlns:a16="http://schemas.microsoft.com/office/drawing/2014/main" id="{5F9DE037-AB27-7F05-29BF-57CEC9BEAE08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499680" y="394200"/>
            <a:ext cx="275400" cy="275400"/>
          </a:xfrm>
          <a:prstGeom prst="rect">
            <a:avLst/>
          </a:prstGeom>
          <a:ln w="0">
            <a:noFill/>
          </a:ln>
        </p:spPr>
      </p:pic>
      <p:sp>
        <p:nvSpPr>
          <p:cNvPr id="155" name="CustomShape 2">
            <a:extLst>
              <a:ext uri="{FF2B5EF4-FFF2-40B4-BE49-F238E27FC236}">
                <a16:creationId xmlns:a16="http://schemas.microsoft.com/office/drawing/2014/main" id="{57D00806-A735-875F-F8C3-EB6DE58C90C6}"/>
              </a:ext>
            </a:extLst>
          </p:cNvPr>
          <p:cNvSpPr/>
          <p:nvPr/>
        </p:nvSpPr>
        <p:spPr>
          <a:xfrm>
            <a:off x="903924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0B89A58C-5836-431C-9826-5B53054788E4}" type="slidenum">
              <a:rPr lang="de-DE" sz="1200" b="0" strike="noStrike" spc="-1">
                <a:solidFill>
                  <a:srgbClr val="8B8B8B"/>
                </a:solidFill>
                <a:latin typeface="Aptos"/>
                <a:ea typeface="DejaVu Sans"/>
              </a:rPr>
              <a:t>6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156" name="CustomShape 3">
            <a:extLst>
              <a:ext uri="{FF2B5EF4-FFF2-40B4-BE49-F238E27FC236}">
                <a16:creationId xmlns:a16="http://schemas.microsoft.com/office/drawing/2014/main" id="{DB790E59-1F6B-E7C9-F7E3-C68EC67961AA}"/>
              </a:ext>
            </a:extLst>
          </p:cNvPr>
          <p:cNvSpPr/>
          <p:nvPr/>
        </p:nvSpPr>
        <p:spPr>
          <a:xfrm>
            <a:off x="319680" y="995400"/>
            <a:ext cx="62802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1" strike="noStrike" spc="-1">
                <a:solidFill>
                  <a:srgbClr val="000000"/>
                </a:solidFill>
                <a:latin typeface="Verdana"/>
                <a:ea typeface="Verdana"/>
              </a:rPr>
              <a:t>Work completed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57" name="CustomShape 4">
            <a:extLst>
              <a:ext uri="{FF2B5EF4-FFF2-40B4-BE49-F238E27FC236}">
                <a16:creationId xmlns:a16="http://schemas.microsoft.com/office/drawing/2014/main" id="{653B631B-AAD7-8142-89FE-41A6FD2B9B74}"/>
              </a:ext>
            </a:extLst>
          </p:cNvPr>
          <p:cNvSpPr/>
          <p:nvPr/>
        </p:nvSpPr>
        <p:spPr>
          <a:xfrm>
            <a:off x="540360" y="1359720"/>
            <a:ext cx="11241360" cy="28608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strike="noStrike" spc="-1" dirty="0">
                <a:solidFill>
                  <a:srgbClr val="000000"/>
                </a:solidFill>
                <a:ea typeface="Verdana"/>
              </a:rPr>
              <a:t>Completed tasks</a:t>
            </a:r>
            <a:endParaRPr lang="en-US" sz="1500" b="0" strike="noStrike" spc="-1" dirty="0"/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spc="-1" dirty="0">
                <a:solidFill>
                  <a:srgbClr val="000000"/>
                </a:solidFill>
                <a:ea typeface="Verdana"/>
              </a:rPr>
              <a:t>T12: Robot wasn’t moving on reorientation-only goal - fixed - three path-adherence critics measured distance to goal, switching off for entire maneuver </a:t>
            </a: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spc="-1" dirty="0">
                <a:solidFill>
                  <a:srgbClr val="000000"/>
                </a:solidFill>
                <a:ea typeface="Verdana"/>
              </a:rPr>
              <a:t>T13: Robot doesn't move when path starts with a turn - fixed - planner bug inserting a pointless reversal-then-forward wiggle at path</a:t>
            </a: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spc="-1" dirty="0">
                <a:solidFill>
                  <a:srgbClr val="000000"/>
                </a:solidFill>
                <a:ea typeface="Verdana"/>
              </a:rPr>
              <a:t>T14: Fixed /</a:t>
            </a:r>
            <a:r>
              <a:rPr lang="en-US" sz="1500" spc="-1" dirty="0" err="1">
                <a:solidFill>
                  <a:srgbClr val="000000"/>
                </a:solidFill>
                <a:ea typeface="Verdana"/>
              </a:rPr>
              <a:t>joint_states</a:t>
            </a:r>
            <a:r>
              <a:rPr lang="en-US" sz="1500" spc="-1" dirty="0">
                <a:solidFill>
                  <a:srgbClr val="000000"/>
                </a:solidFill>
                <a:ea typeface="Verdana"/>
              </a:rPr>
              <a:t> reporting fake frozen state - wheels appeared static in RViz while robot was moving correctly</a:t>
            </a: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spc="-1" dirty="0">
                <a:solidFill>
                  <a:srgbClr val="000000"/>
                </a:solidFill>
                <a:ea typeface="Verdana"/>
              </a:rPr>
              <a:t>T15: Built custom </a:t>
            </a:r>
            <a:r>
              <a:rPr lang="en-US" sz="1500" spc="-1" dirty="0" err="1">
                <a:solidFill>
                  <a:srgbClr val="000000"/>
                </a:solidFill>
                <a:ea typeface="Verdana"/>
              </a:rPr>
              <a:t>EarlyCommitCritic</a:t>
            </a:r>
            <a:r>
              <a:rPr lang="en-US" sz="1500" spc="-1" dirty="0">
                <a:solidFill>
                  <a:srgbClr val="000000"/>
                </a:solidFill>
                <a:ea typeface="Verdana"/>
              </a:rPr>
              <a:t> MPPI critic from scratch - no existing critic provided heading guidance for immediate-curve cases; fixed mismatch between custom code and Nav2's precompiled MPPI library</a:t>
            </a: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spc="-1" dirty="0">
                <a:solidFill>
                  <a:srgbClr val="000000"/>
                </a:solidFill>
                <a:ea typeface="Verdana"/>
              </a:rPr>
              <a:t>T16: Fixed 4 stacked bugs behind persistent failure: runaway 33Hz replanning (behavior tree bug), zero safety margin between planner and controller turning radius limits, and MPPI warm-start self-reinforcing stall</a:t>
            </a:r>
          </a:p>
          <a:p>
            <a:pPr marL="458280" lvl="1">
              <a:lnSpc>
                <a:spcPct val="100000"/>
              </a:lnSpc>
              <a:buClr>
                <a:srgbClr val="000000"/>
              </a:buClr>
            </a:pPr>
            <a:r>
              <a:rPr lang="en-US" sz="1500" b="0" strike="noStrike" spc="-1" dirty="0">
                <a:solidFill>
                  <a:srgbClr val="000000"/>
                </a:solidFill>
                <a:ea typeface="Verdana"/>
              </a:rPr>
              <a:t>Progress: Stack moved from approximated Ackermann conversion + basic Nav2 to kinematically to </a:t>
            </a:r>
            <a:r>
              <a:rPr lang="en-US" sz="1500" b="0" strike="noStrike" spc="-1" dirty="0" err="1">
                <a:solidFill>
                  <a:srgbClr val="000000"/>
                </a:solidFill>
                <a:ea typeface="Verdana"/>
              </a:rPr>
              <a:t>Smac</a:t>
            </a:r>
            <a:r>
              <a:rPr lang="en-US" sz="1500" b="0" strike="noStrike" spc="-1" dirty="0">
                <a:solidFill>
                  <a:srgbClr val="000000"/>
                </a:solidFill>
                <a:ea typeface="Verdana"/>
              </a:rPr>
              <a:t> global planner + MPPI sampling-based local controller. End-to-end navigation verified. Corner-cutting/curve-radius tuning still inconclusive.</a:t>
            </a:r>
            <a:endParaRPr lang="en-US" sz="1500" b="0" strike="noStrike" spc="-1" dirty="0"/>
          </a:p>
        </p:txBody>
      </p:sp>
      <p:sp>
        <p:nvSpPr>
          <p:cNvPr id="158" name="CustomShape 5">
            <a:extLst>
              <a:ext uri="{FF2B5EF4-FFF2-40B4-BE49-F238E27FC236}">
                <a16:creationId xmlns:a16="http://schemas.microsoft.com/office/drawing/2014/main" id="{27875722-13E4-F4B1-18D8-5863FDAE6BE0}"/>
              </a:ext>
            </a:extLst>
          </p:cNvPr>
          <p:cNvSpPr/>
          <p:nvPr/>
        </p:nvSpPr>
        <p:spPr>
          <a:xfrm>
            <a:off x="499680" y="5260489"/>
            <a:ext cx="1085760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DE" sz="1600" b="1" strike="noStrike" spc="-1" dirty="0">
                <a:solidFill>
                  <a:srgbClr val="000000"/>
                </a:solidFill>
                <a:ea typeface="DejaVu Sans"/>
              </a:rPr>
              <a:t>Work NOT completed</a:t>
            </a:r>
            <a:endParaRPr lang="en-US" sz="1600" b="0" strike="noStrike" spc="-1" dirty="0"/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strike="noStrike" spc="-1" dirty="0"/>
              <a:t>Corner-cutting on curves - not proven fixable with single critic weight adjustment; under investigation</a:t>
            </a: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strike="noStrike" spc="-1" dirty="0"/>
              <a:t>Hardware integration - deprioritized in favor of achieving correct simulation kinematics first</a:t>
            </a:r>
          </a:p>
        </p:txBody>
      </p:sp>
    </p:spTree>
    <p:extLst>
      <p:ext uri="{BB962C8B-B14F-4D97-AF65-F5344CB8AC3E}">
        <p14:creationId xmlns:p14="http://schemas.microsoft.com/office/powerpoint/2010/main" val="3052616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CustomShape 1"/>
          <p:cNvSpPr/>
          <p:nvPr/>
        </p:nvSpPr>
        <p:spPr>
          <a:xfrm>
            <a:off x="2160" y="288360"/>
            <a:ext cx="6597720" cy="455400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1467000" algn="l"/>
              </a:tabLst>
            </a:pPr>
            <a:r>
              <a:rPr lang="de-DE" sz="2400" b="1" strike="noStrike" spc="-1">
                <a:solidFill>
                  <a:srgbClr val="1A4273"/>
                </a:solidFill>
                <a:latin typeface="AvantGarde Md BT"/>
                <a:ea typeface="DejaVu Sans"/>
              </a:rPr>
              <a:t>           Plan for the next 2 weeks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160" name="Picture 5" descr="I:\arrow.GIF"/>
          <p:cNvPicPr/>
          <p:nvPr/>
        </p:nvPicPr>
        <p:blipFill>
          <a:blip r:embed="rId3"/>
          <a:stretch/>
        </p:blipFill>
        <p:spPr>
          <a:xfrm>
            <a:off x="499680" y="394200"/>
            <a:ext cx="275400" cy="275400"/>
          </a:xfrm>
          <a:prstGeom prst="rect">
            <a:avLst/>
          </a:prstGeom>
          <a:ln w="0">
            <a:noFill/>
          </a:ln>
        </p:spPr>
      </p:pic>
      <p:sp>
        <p:nvSpPr>
          <p:cNvPr id="161" name="CustomShape 2"/>
          <p:cNvSpPr/>
          <p:nvPr/>
        </p:nvSpPr>
        <p:spPr>
          <a:xfrm>
            <a:off x="903924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EC1E2ED7-8A9A-423F-8908-829D1469C5B1}" type="slidenum">
              <a:rPr lang="de-DE" sz="1200" b="0" strike="noStrike" spc="-1">
                <a:solidFill>
                  <a:srgbClr val="8B8B8B"/>
                </a:solidFill>
                <a:latin typeface="Aptos"/>
                <a:ea typeface="DejaVu Sans"/>
              </a:rPr>
              <a:t>7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162" name="CustomShape 3"/>
          <p:cNvSpPr/>
          <p:nvPr/>
        </p:nvSpPr>
        <p:spPr>
          <a:xfrm>
            <a:off x="319320" y="1083240"/>
            <a:ext cx="11127458" cy="17528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1" strike="noStrike" spc="-1" dirty="0">
                <a:solidFill>
                  <a:srgbClr val="000000"/>
                </a:solidFill>
                <a:ea typeface="Verdana"/>
              </a:rPr>
              <a:t>Upcoming tasks:</a:t>
            </a:r>
            <a:endParaRPr lang="en-US" sz="1800" b="0" strike="noStrike" spc="-1" dirty="0"/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ea typeface="DejaVu Sans"/>
              </a:rPr>
              <a:t>T1: Resolve corner-cutting/curve-radius complaint</a:t>
            </a: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ea typeface="DejaVu Sans"/>
              </a:rPr>
              <a:t>T2: Connect to physical </a:t>
            </a:r>
            <a:r>
              <a:rPr lang="en-US" sz="1800" b="0" strike="noStrike" spc="-1" dirty="0" err="1">
                <a:solidFill>
                  <a:srgbClr val="000000"/>
                </a:solidFill>
                <a:ea typeface="DejaVu Sans"/>
              </a:rPr>
              <a:t>QCar</a:t>
            </a:r>
            <a:r>
              <a:rPr lang="en-US" sz="1800" b="0" strike="noStrike" spc="-1" dirty="0">
                <a:solidFill>
                  <a:srgbClr val="000000"/>
                </a:solidFill>
                <a:ea typeface="DejaVu Sans"/>
              </a:rPr>
              <a:t> and establish ROS2 Humble communication</a:t>
            </a: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ea typeface="DejaVu Sans"/>
              </a:rPr>
              <a:t>T3: Deploy simulation stack to </a:t>
            </a:r>
            <a:r>
              <a:rPr lang="en-US" sz="1800" b="0" strike="noStrike" spc="-1" dirty="0" err="1">
                <a:solidFill>
                  <a:srgbClr val="000000"/>
                </a:solidFill>
                <a:ea typeface="DejaVu Sans"/>
              </a:rPr>
              <a:t>QCar</a:t>
            </a:r>
            <a:r>
              <a:rPr lang="en-US" sz="1800" b="0" strike="noStrike" spc="-1" dirty="0">
                <a:solidFill>
                  <a:srgbClr val="000000"/>
                </a:solidFill>
                <a:ea typeface="DejaVu Sans"/>
              </a:rPr>
              <a:t> onboard computer</a:t>
            </a: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ea typeface="DejaVu Sans"/>
              </a:rPr>
              <a:t>T4: Calibrate LiDAR sensor on real hardware - verify /scan topic publishing</a:t>
            </a: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ea typeface="DejaVu Sans"/>
              </a:rPr>
              <a:t>T5: Test keyboard </a:t>
            </a:r>
            <a:r>
              <a:rPr lang="en-US" sz="1800" b="0" strike="noStrike" spc="-1" dirty="0" err="1">
                <a:solidFill>
                  <a:srgbClr val="000000"/>
                </a:solidFill>
                <a:ea typeface="DejaVu Sans"/>
              </a:rPr>
              <a:t>teleop</a:t>
            </a:r>
            <a:r>
              <a:rPr lang="en-US" sz="1800" b="0" strike="noStrike" spc="-1" dirty="0">
                <a:solidFill>
                  <a:srgbClr val="000000"/>
                </a:solidFill>
                <a:ea typeface="DejaVu Sans"/>
              </a:rPr>
              <a:t> on real </a:t>
            </a:r>
            <a:r>
              <a:rPr lang="en-US" sz="1800" b="0" strike="noStrike" spc="-1" dirty="0" err="1">
                <a:solidFill>
                  <a:srgbClr val="000000"/>
                </a:solidFill>
                <a:ea typeface="DejaVu Sans"/>
              </a:rPr>
              <a:t>QCar</a:t>
            </a:r>
            <a:r>
              <a:rPr lang="en-US" sz="1800" b="0" strike="noStrike" spc="-1" dirty="0">
                <a:solidFill>
                  <a:srgbClr val="000000"/>
                </a:solidFill>
                <a:ea typeface="DejaVu Sans"/>
              </a:rPr>
              <a:t> - validate drive and steering response</a:t>
            </a:r>
          </a:p>
        </p:txBody>
      </p:sp>
      <p:sp>
        <p:nvSpPr>
          <p:cNvPr id="163" name="CustomShape 4"/>
          <p:cNvSpPr/>
          <p:nvPr/>
        </p:nvSpPr>
        <p:spPr>
          <a:xfrm>
            <a:off x="525240" y="4013040"/>
            <a:ext cx="11498638" cy="16297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DE" sz="2000" b="1" strike="noStrike" spc="-1" dirty="0">
                <a:solidFill>
                  <a:srgbClr val="000000"/>
                </a:solidFill>
                <a:ea typeface="DejaVu Sans"/>
              </a:rPr>
              <a:t>Expected outcomes:</a:t>
            </a:r>
            <a:endParaRPr lang="en-US" sz="2000" b="0" strike="noStrike" spc="-1" dirty="0"/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/>
              <a:t>Navigation stack fully tuned and verified in simulation</a:t>
            </a: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/>
              <a:t>Hardware integration initiated - </a:t>
            </a:r>
            <a:r>
              <a:rPr lang="en-US" sz="2000" b="0" strike="noStrike" spc="-1" dirty="0" err="1"/>
              <a:t>QCar</a:t>
            </a:r>
            <a:r>
              <a:rPr lang="en-US" sz="2000" b="0" strike="noStrike" spc="-1" dirty="0"/>
              <a:t> teleoperated and sensor-verified</a:t>
            </a:r>
          </a:p>
          <a:p>
            <a:pPr>
              <a:lnSpc>
                <a:spcPct val="100000"/>
              </a:lnSpc>
              <a:buNone/>
            </a:pPr>
            <a:r>
              <a:rPr lang="en-DE" sz="2000" b="0" strike="noStrike" spc="-1" dirty="0">
                <a:solidFill>
                  <a:srgbClr val="000000"/>
                </a:solidFill>
                <a:ea typeface="DejaVu Sans"/>
              </a:rPr>
              <a:t>Milestone:</a:t>
            </a:r>
            <a:endParaRPr lang="en-US" sz="2000" b="0" strike="noStrike" spc="-1" dirty="0"/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ea typeface="DejaVu Sans"/>
              </a:rPr>
              <a:t>M6:  Simulation stack complete with verified Ackermann kinematics; hardware integration initiated</a:t>
            </a:r>
            <a:endParaRPr lang="en-US" sz="2000" b="0" strike="noStrike" spc="-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Box 12"/>
          <p:cNvSpPr/>
          <p:nvPr/>
        </p:nvSpPr>
        <p:spPr>
          <a:xfrm>
            <a:off x="457200" y="453240"/>
            <a:ext cx="8285258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sz="20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Results: </a:t>
            </a:r>
            <a:r>
              <a:rPr lang="en-US" sz="20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SLAM Mapping, Localization and Autonomous Navigation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DB4C3E-4D75-0974-B2FD-90613895309E}"/>
              </a:ext>
            </a:extLst>
          </p:cNvPr>
          <p:cNvSpPr txBox="1"/>
          <p:nvPr/>
        </p:nvSpPr>
        <p:spPr>
          <a:xfrm>
            <a:off x="3805205" y="5773918"/>
            <a:ext cx="45815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>
                <a:hlinkClick r:id="rId2"/>
              </a:rPr>
              <a:t>https://www.youtube.com/watch?v=nIZiZn91m-E</a:t>
            </a:r>
            <a:endParaRPr lang="en-IN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DF997E-70E7-345E-9358-E9B28E712E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360" y="1227582"/>
            <a:ext cx="7827264" cy="44028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Box 1"/>
          <p:cNvSpPr/>
          <p:nvPr/>
        </p:nvSpPr>
        <p:spPr>
          <a:xfrm>
            <a:off x="869040" y="453240"/>
            <a:ext cx="170964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sz="20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Issues faced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174" name="TextBox 2"/>
          <p:cNvSpPr/>
          <p:nvPr/>
        </p:nvSpPr>
        <p:spPr>
          <a:xfrm>
            <a:off x="6432934" y="4341894"/>
            <a:ext cx="3088516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spc="-1" dirty="0">
                <a:latin typeface="Arial"/>
              </a:rPr>
              <a:t>At times take multiple iterations to reroute </a:t>
            </a:r>
            <a:endParaRPr lang="en-US" sz="1200" b="0" strike="noStrike" spc="-1" dirty="0">
              <a:latin typeface="Arial"/>
            </a:endParaRPr>
          </a:p>
        </p:txBody>
      </p:sp>
      <p:sp>
        <p:nvSpPr>
          <p:cNvPr id="177" name="TextBox 3"/>
          <p:cNvSpPr/>
          <p:nvPr/>
        </p:nvSpPr>
        <p:spPr>
          <a:xfrm>
            <a:off x="1170064" y="4299840"/>
            <a:ext cx="3425274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Robot deviates from Nav2 planned curved path.</a:t>
            </a:r>
            <a:endParaRPr lang="en-US" sz="1200" b="0" strike="noStrike" spc="-1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8C141C-E791-84D7-27F7-4C5FC552A4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025" y="1028103"/>
            <a:ext cx="3181350" cy="32194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D3A072-BDCD-D61E-7B16-086183B43D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560" y="1343571"/>
            <a:ext cx="4229051" cy="29039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CustomShape 1"/>
          <p:cNvSpPr/>
          <p:nvPr/>
        </p:nvSpPr>
        <p:spPr>
          <a:xfrm>
            <a:off x="0" y="6795360"/>
            <a:ext cx="12191400" cy="7128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79" name="Picture 2" descr="https://scontent-dus1-1.xx.fbcdn.net/v/t31.0-8/479427_393094454061277_801847919_o.jpg?_nc_cat=109&amp;_nc_ht=scontent-dus1-1.xx&amp;oh=98fec9207dda7021b746b9394ff6ba0b&amp;oe=5CE9F3A9"/>
          <p:cNvPicPr/>
          <p:nvPr/>
        </p:nvPicPr>
        <p:blipFill>
          <a:blip r:embed="rId2"/>
          <a:stretch/>
        </p:blipFill>
        <p:spPr>
          <a:xfrm>
            <a:off x="0" y="1121040"/>
            <a:ext cx="8706240" cy="4615560"/>
          </a:xfrm>
          <a:prstGeom prst="rect">
            <a:avLst/>
          </a:prstGeom>
          <a:ln w="0">
            <a:noFill/>
          </a:ln>
        </p:spPr>
      </p:pic>
      <p:sp>
        <p:nvSpPr>
          <p:cNvPr id="180" name="CustomShape 2"/>
          <p:cNvSpPr/>
          <p:nvPr/>
        </p:nvSpPr>
        <p:spPr>
          <a:xfrm>
            <a:off x="0" y="1422720"/>
            <a:ext cx="8759880" cy="13687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de-DE" sz="3200" b="1" strike="noStrike" spc="-1">
                <a:solidFill>
                  <a:srgbClr val="FFFFFF"/>
                </a:solidFill>
                <a:latin typeface="Verdana"/>
                <a:ea typeface="DejaVu Sans"/>
              </a:rPr>
              <a:t>Herzlichen Dank für Ihr Interesse!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181" name="CustomShape 3"/>
          <p:cNvSpPr/>
          <p:nvPr/>
        </p:nvSpPr>
        <p:spPr>
          <a:xfrm>
            <a:off x="7836120" y="4483440"/>
            <a:ext cx="4355280" cy="51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de-DE" sz="1400" b="1" strike="noStrike" spc="-1">
                <a:solidFill>
                  <a:srgbClr val="1F497D"/>
                </a:solidFill>
                <a:latin typeface="Verdana"/>
                <a:ea typeface="Verdana"/>
              </a:rPr>
              <a:t>Prof. Dr. Dmitrii Dobriborsci</a:t>
            </a:r>
            <a:endParaRPr lang="en-US" sz="14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r>
              <a:rPr lang="de-DE" sz="1400" b="1" strike="noStrike" spc="-1">
                <a:solidFill>
                  <a:srgbClr val="1F497D"/>
                </a:solidFill>
                <a:latin typeface="Verdana"/>
                <a:ea typeface="Verdana"/>
              </a:rPr>
              <a:t>Dmitrii.dobriborsci@th-deg.de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82" name="CustomShape 4"/>
          <p:cNvSpPr/>
          <p:nvPr/>
        </p:nvSpPr>
        <p:spPr>
          <a:xfrm>
            <a:off x="8992080" y="2126520"/>
            <a:ext cx="3047400" cy="191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de-DE" sz="2000" b="1" strike="noStrike" spc="-1">
                <a:solidFill>
                  <a:srgbClr val="1F497D"/>
                </a:solidFill>
                <a:latin typeface="Verdana"/>
                <a:ea typeface="Verdana"/>
              </a:rPr>
              <a:t>Technologie </a:t>
            </a:r>
            <a:endParaRPr lang="en-US" sz="20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r>
              <a:rPr lang="de-DE" sz="2000" b="1" strike="noStrike" spc="-1">
                <a:solidFill>
                  <a:srgbClr val="1F497D"/>
                </a:solidFill>
                <a:latin typeface="Verdana"/>
                <a:ea typeface="Verdana"/>
              </a:rPr>
              <a:t>Campus Cham</a:t>
            </a:r>
            <a:endParaRPr lang="en-US" sz="20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endParaRPr lang="en-US" sz="20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r>
              <a:rPr lang="de-DE" sz="2000" b="1" strike="noStrike" spc="-1">
                <a:solidFill>
                  <a:srgbClr val="808080"/>
                </a:solidFill>
                <a:latin typeface="Verdana"/>
                <a:ea typeface="Verdana"/>
              </a:rPr>
              <a:t>Badstraße 21</a:t>
            </a:r>
            <a:endParaRPr lang="en-US" sz="20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r>
              <a:rPr lang="de-DE" sz="2000" b="1" strike="noStrike" spc="-1">
                <a:solidFill>
                  <a:srgbClr val="808080"/>
                </a:solidFill>
                <a:latin typeface="Verdana"/>
                <a:ea typeface="Verdana"/>
              </a:rPr>
              <a:t>93413 Cham</a:t>
            </a:r>
            <a:endParaRPr lang="en-US" sz="20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r>
              <a:rPr lang="de-DE" sz="2000" b="1" strike="noStrike" spc="-1">
                <a:solidFill>
                  <a:srgbClr val="808080"/>
                </a:solidFill>
                <a:latin typeface="Verdana"/>
                <a:ea typeface="Verdana"/>
              </a:rPr>
              <a:t>www.tc-cham.de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83" name="CustomShape 5"/>
          <p:cNvSpPr/>
          <p:nvPr/>
        </p:nvSpPr>
        <p:spPr>
          <a:xfrm>
            <a:off x="2160" y="288360"/>
            <a:ext cx="6597720" cy="455400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1467000" algn="l"/>
              </a:tabLst>
            </a:pPr>
            <a:r>
              <a:rPr lang="de-DE" sz="2400" b="1" strike="noStrike" spc="-1">
                <a:solidFill>
                  <a:srgbClr val="403152"/>
                </a:solidFill>
                <a:latin typeface="AvantGarde Md BT"/>
                <a:ea typeface="DejaVu Sans"/>
              </a:rPr>
              <a:t>	</a:t>
            </a:r>
            <a:r>
              <a:rPr lang="de-DE" sz="2400" b="1" strike="noStrike" spc="-1">
                <a:solidFill>
                  <a:srgbClr val="002060"/>
                </a:solidFill>
                <a:latin typeface="AvantGarde Md BT"/>
                <a:ea typeface="DejaVu Sans"/>
              </a:rPr>
              <a:t>KONTAKT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184" name="Picture 5" descr="I:\arrow.GIF"/>
          <p:cNvPicPr/>
          <p:nvPr/>
        </p:nvPicPr>
        <p:blipFill>
          <a:blip r:embed="rId3"/>
          <a:stretch/>
        </p:blipFill>
        <p:spPr>
          <a:xfrm>
            <a:off x="499680" y="394200"/>
            <a:ext cx="275400" cy="275400"/>
          </a:xfrm>
          <a:prstGeom prst="rect">
            <a:avLst/>
          </a:prstGeom>
          <a:ln w="0">
            <a:noFill/>
          </a:ln>
        </p:spPr>
      </p:pic>
      <p:sp>
        <p:nvSpPr>
          <p:cNvPr id="185" name="TextShape 6"/>
          <p:cNvSpPr/>
          <p:nvPr/>
        </p:nvSpPr>
        <p:spPr>
          <a:xfrm>
            <a:off x="903924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5708F17F-82B4-456F-A10B-368DF1986031}" type="slidenum">
              <a:rPr lang="de-DE" sz="1200" b="0" strike="noStrike" spc="-1">
                <a:solidFill>
                  <a:srgbClr val="787878"/>
                </a:solidFill>
                <a:latin typeface="Aptos"/>
                <a:ea typeface="DejaVu Sans"/>
              </a:rPr>
              <a:t>10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50713</TotalTime>
  <Words>897</Words>
  <Application>Microsoft Office PowerPoint</Application>
  <PresentationFormat>Widescreen</PresentationFormat>
  <Paragraphs>102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Aptos</vt:lpstr>
      <vt:lpstr>Arial</vt:lpstr>
      <vt:lpstr>AvantGarde Bk BT</vt:lpstr>
      <vt:lpstr>AvantGarde Md BT</vt:lpstr>
      <vt:lpstr>DejaVu Sans</vt:lpstr>
      <vt:lpstr>Symbol</vt:lpstr>
      <vt:lpstr>Times New Roman</vt:lpstr>
      <vt:lpstr>Verdana</vt:lpstr>
      <vt:lpstr>Wingdings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Dmitrii Dobriborsci</dc:creator>
  <dc:description/>
  <cp:lastModifiedBy>Amit Sajeev</cp:lastModifiedBy>
  <cp:revision>49</cp:revision>
  <cp:lastPrinted>2025-01-26T21:13:28Z</cp:lastPrinted>
  <dcterms:created xsi:type="dcterms:W3CDTF">2019-09-09T12:43:43Z</dcterms:created>
  <dcterms:modified xsi:type="dcterms:W3CDTF">2026-07-20T04:42:38Z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i4>0</vt:i4>
  </property>
  <property fmtid="{D5CDD505-2E9C-101B-9397-08002B2CF9AE}" pid="6" name="Notes">
    <vt:i4>6</vt:i4>
  </property>
  <property fmtid="{D5CDD505-2E9C-101B-9397-08002B2CF9AE}" pid="7" name="PresentationFormat">
    <vt:lpwstr>Widescreen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i4>9</vt:i4>
  </property>
</Properties>
</file>
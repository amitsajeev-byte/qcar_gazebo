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77FE32E-ED86-49EC-A516-F02A76EA049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52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88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F0DB6A2E-F339-44AF-8DC4-202798E4A9D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1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F50CD21-D434-459E-B518-E74E3BC49C8C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4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109C7D7-B57E-4A16-85A9-67BAFCC46B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97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D2B79E3-BB72-4968-A5DE-13487B6F4E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772B-54D2-98D6-EC3A-3D5C3A37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>
            <a:extLst>
              <a:ext uri="{FF2B5EF4-FFF2-40B4-BE49-F238E27FC236}">
                <a16:creationId xmlns:a16="http://schemas.microsoft.com/office/drawing/2014/main" id="{AFB17F7A-94C7-62AA-4842-9C4D425C3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>
            <a:extLst>
              <a:ext uri="{FF2B5EF4-FFF2-40B4-BE49-F238E27FC236}">
                <a16:creationId xmlns:a16="http://schemas.microsoft.com/office/drawing/2014/main" id="{15B7A1AB-3EC8-163B-DEFD-B36A7CD320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00" name="TextShape 3">
            <a:extLst>
              <a:ext uri="{FF2B5EF4-FFF2-40B4-BE49-F238E27FC236}">
                <a16:creationId xmlns:a16="http://schemas.microsoft.com/office/drawing/2014/main" id="{865F1828-FC0F-03B1-7171-98F074737ACB}"/>
              </a:ext>
            </a:extLst>
          </p:cNvPr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B634002-52EB-431B-9343-C59E0005E4D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4786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03" name="TextShape 3"/>
          <p:cNvSpPr/>
          <p:nvPr/>
        </p:nvSpPr>
        <p:spPr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D3E5099-DA53-431E-A77A-67BF0FC9A49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2"/>
          <p:cNvPicPr/>
          <p:nvPr/>
        </p:nvPicPr>
        <p:blipFill>
          <a:blip r:embed="rId14"/>
          <a:stretch/>
        </p:blipFill>
        <p:spPr>
          <a:xfrm>
            <a:off x="533160" y="62334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6" name="Grafik 1"/>
          <p:cNvPicPr/>
          <p:nvPr/>
        </p:nvPicPr>
        <p:blipFill>
          <a:blip r:embed="rId15"/>
          <a:stretch/>
        </p:blipFill>
        <p:spPr>
          <a:xfrm>
            <a:off x="10248840" y="424800"/>
            <a:ext cx="1426680" cy="248040"/>
          </a:xfrm>
          <a:prstGeom prst="rect">
            <a:avLst/>
          </a:prstGeom>
          <a:ln w="0">
            <a:noFill/>
          </a:ln>
        </p:spPr>
      </p:pic>
      <p:pic>
        <p:nvPicPr>
          <p:cNvPr id="2" name="Grafik 10"/>
          <p:cNvPicPr/>
          <p:nvPr/>
        </p:nvPicPr>
        <p:blipFill>
          <a:blip r:embed="rId16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42" name="Grafik 6"/>
          <p:cNvPicPr/>
          <p:nvPr/>
        </p:nvPicPr>
        <p:blipFill>
          <a:blip r:embed="rId14"/>
          <a:stretch/>
        </p:blipFill>
        <p:spPr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43" name="Grafik 7"/>
          <p:cNvPicPr/>
          <p:nvPr/>
        </p:nvPicPr>
        <p:blipFill>
          <a:blip r:embed="rId15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3" name="Grafik 6"/>
          <p:cNvPicPr/>
          <p:nvPr/>
        </p:nvPicPr>
        <p:blipFill>
          <a:blip r:embed="rId14"/>
          <a:stretch/>
        </p:blipFill>
        <p:spPr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84" name="Grafik 7"/>
          <p:cNvPicPr/>
          <p:nvPr/>
        </p:nvPicPr>
        <p:blipFill>
          <a:blip r:embed="rId15"/>
          <a:stretch/>
        </p:blipFill>
        <p:spPr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KhUEylLyjYM" TargetMode="Externa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15880" y="532080"/>
            <a:ext cx="4690080" cy="459360"/>
          </a:xfrm>
          <a:custGeom>
            <a:avLst/>
            <a:gdLst/>
            <a:ahLst/>
            <a:cxnLst/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0" name="TextShape 2"/>
          <p:cNvSpPr/>
          <p:nvPr/>
        </p:nvSpPr>
        <p:spPr>
          <a:xfrm>
            <a:off x="515880" y="555840"/>
            <a:ext cx="11159280" cy="105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strike="noStrike" spc="-1">
                <a:solidFill>
                  <a:srgbClr val="FFFFFF"/>
                </a:solidFill>
                <a:latin typeface="AvantGarde Bk BT"/>
                <a:ea typeface="Verdana"/>
              </a:rPr>
              <a:t>Intelligent Robotics Lab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2" name="CustomShape 4"/>
          <p:cNvSpPr/>
          <p:nvPr/>
        </p:nvSpPr>
        <p:spPr>
          <a:xfrm>
            <a:off x="2194560" y="1691640"/>
            <a:ext cx="8228880" cy="183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33" name="Picture 2" descr="http://tc-cham.hdu-deggendorf.de/images/stories/bildarchiv/bild_07_g.jpg"/>
          <p:cNvPicPr/>
          <p:nvPr/>
        </p:nvPicPr>
        <p:blipFill>
          <a:blip r:embed="rId3"/>
          <a:stretch/>
        </p:blipFill>
        <p:spPr>
          <a:xfrm>
            <a:off x="8891280" y="4327560"/>
            <a:ext cx="2218320" cy="1663560"/>
          </a:xfrm>
          <a:prstGeom prst="rect">
            <a:avLst/>
          </a:prstGeom>
          <a:ln w="0">
            <a:noFill/>
          </a:ln>
        </p:spPr>
      </p:pic>
      <p:pic>
        <p:nvPicPr>
          <p:cNvPr id="134" name="Grafik 11"/>
          <p:cNvPicPr/>
          <p:nvPr/>
        </p:nvPicPr>
        <p:blipFill>
          <a:blip r:embed="rId4"/>
          <a:stretch/>
        </p:blipFill>
        <p:spPr>
          <a:xfrm>
            <a:off x="6650280" y="4327560"/>
            <a:ext cx="2180160" cy="166536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5"/>
          <p:cNvSpPr/>
          <p:nvPr/>
        </p:nvSpPr>
        <p:spPr>
          <a:xfrm>
            <a:off x="1737360" y="1784160"/>
            <a:ext cx="9143640" cy="168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1A4273"/>
                </a:solidFill>
                <a:latin typeface="Verdana"/>
                <a:ea typeface="Verdana"/>
              </a:rPr>
              <a:t>Development of a SLAM and Autonomous Navigation System for a Self-Driving Car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36" name="Grafik 2"/>
          <p:cNvPicPr/>
          <p:nvPr/>
        </p:nvPicPr>
        <p:blipFill>
          <a:blip r:embed="rId5"/>
          <a:stretch/>
        </p:blipFill>
        <p:spPr>
          <a:xfrm>
            <a:off x="3406320" y="4335840"/>
            <a:ext cx="3182760" cy="1663920"/>
          </a:xfrm>
          <a:prstGeom prst="rect">
            <a:avLst/>
          </a:prstGeom>
          <a:ln w="0">
            <a:noFill/>
          </a:ln>
        </p:spPr>
      </p:pic>
      <p:pic>
        <p:nvPicPr>
          <p:cNvPr id="137" name="Grafik 4"/>
          <p:cNvPicPr/>
          <p:nvPr/>
        </p:nvPicPr>
        <p:blipFill>
          <a:blip r:embed="rId6"/>
          <a:srcRect l="11370" t="11398" r="16394" b="13094"/>
          <a:stretch/>
        </p:blipFill>
        <p:spPr>
          <a:xfrm>
            <a:off x="989640" y="4335840"/>
            <a:ext cx="2355480" cy="1641240"/>
          </a:xfrm>
          <a:prstGeom prst="rect">
            <a:avLst/>
          </a:prstGeom>
          <a:ln w="0">
            <a:noFill/>
          </a:ln>
        </p:spPr>
      </p:pic>
      <p:sp>
        <p:nvSpPr>
          <p:cNvPr id="138" name="CustomShape 6"/>
          <p:cNvSpPr/>
          <p:nvPr/>
        </p:nvSpPr>
        <p:spPr>
          <a:xfrm>
            <a:off x="7274160" y="3523680"/>
            <a:ext cx="428940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Student: Amit Sajeev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Supervisor: Prof. Dr. Dmitrii Dobriborsci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139" name="TextBox 1"/>
          <p:cNvSpPr/>
          <p:nvPr/>
        </p:nvSpPr>
        <p:spPr>
          <a:xfrm>
            <a:off x="6499080" y="2879280"/>
            <a:ext cx="3404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Deadline: September 14, 2026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Problem definition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1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42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45C8C71C-68E2-4323-9991-FD6DE535CC20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43" name="CustomShape 3"/>
          <p:cNvSpPr/>
          <p:nvPr/>
        </p:nvSpPr>
        <p:spPr>
          <a:xfrm>
            <a:off x="135720" y="1555920"/>
            <a:ext cx="11485800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Develop a SLAM and Autonomous Navigation System for a Self-Driving Car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ROS2-based autonomous navigation system for the </a:t>
            </a:r>
            <a:r>
              <a:rPr lang="en-US" sz="2400" b="0" strike="noStrike" spc="-1" dirty="0" err="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 by integrating sensor fusion</a:t>
            </a:r>
            <a:endParaRPr lang="en-US" sz="24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Problem statement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Building a complete stack for a self driving car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To fuse different sensor data into the environment to localize and navigate the car in real time.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Design architecture for ROS2 and implement SLAM</a:t>
            </a:r>
            <a:endParaRPr lang="en-US" sz="24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ea typeface="Verdana"/>
              </a:rPr>
              <a:t>Scope</a:t>
            </a:r>
            <a:endParaRPr lang="en-US" sz="24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ea typeface="Verdana"/>
              </a:rPr>
              <a:t>Deliverables: ROS2 Humble simulation environment, </a:t>
            </a:r>
            <a:r>
              <a:rPr lang="en-GB" sz="24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GB" sz="2400" b="0" strike="noStrike" spc="-1" dirty="0">
                <a:solidFill>
                  <a:srgbClr val="000000"/>
                </a:solidFill>
                <a:ea typeface="Verdana"/>
              </a:rPr>
              <a:t> URDF model, ros2_control joint controllers, RViz visualization, documented repository</a:t>
            </a:r>
            <a:endParaRPr lang="en-US" sz="2400" b="0" strike="noStrike" spc="-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Thesis goal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5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46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740FD9C5-05F2-4049-A821-6F6783AB82D2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319320" y="1083240"/>
            <a:ext cx="11272680" cy="27377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Main objective</a:t>
            </a:r>
            <a:endParaRPr lang="en-US" sz="18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Design and implement a ROS2-based perception and navigation system for the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, enabling real-time SLAM, localization and autonomous indoor driving.</a:t>
            </a:r>
            <a:endParaRPr lang="en-US" sz="2000" b="0" strike="noStrike" spc="-1" dirty="0"/>
          </a:p>
          <a:p>
            <a:pPr>
              <a:lnSpc>
                <a:spcPct val="100000"/>
              </a:lnSpc>
              <a:buNone/>
            </a:pPr>
            <a:endParaRPr lang="en-US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Sub-objectives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Sensor characterization and time-synchronized data acquisition (LiDAR, IMU, encoders, camera)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Multi-sensor fusion for state estimation using EKF/UKF (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robot_localization</a:t>
            </a: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 package)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Evaluate and configure ROS2-compatible SLAM algorithms (Cartographer, KISS-ICP, 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gmapping</a:t>
            </a: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)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Integrate Nav2 for autonomous path planning and obstacle avoidance on the </a:t>
            </a:r>
            <a:r>
              <a:rPr lang="en-US" sz="1800" b="1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endParaRPr lang="en-US" sz="1800" b="0" strike="noStrike" spc="-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49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0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8290D25-DB43-4985-8A96-BB91D52F03C9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1" name="CustomShape 3"/>
          <p:cNvSpPr/>
          <p:nvPr/>
        </p:nvSpPr>
        <p:spPr>
          <a:xfrm>
            <a:off x="319320" y="1083240"/>
            <a:ext cx="70480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Plan for the last 2 weeks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2" name="CustomShape 4"/>
          <p:cNvSpPr/>
          <p:nvPr/>
        </p:nvSpPr>
        <p:spPr>
          <a:xfrm>
            <a:off x="257040" y="1447920"/>
            <a:ext cx="1140372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Expected tasks</a:t>
            </a:r>
            <a:endParaRPr lang="en-US" sz="20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T1: Resolve corner-cutting/curve-radius complaint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ea typeface="Verdana"/>
              </a:rPr>
              <a:t>T2: 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Connect to physical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, establish ROS2 communication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T3: Deploy simulation stack to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onboard computer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T4: Check LiDAR sensor on real hardware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T5: Test keyboard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teleop</a:t>
            </a: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 on real </a:t>
            </a:r>
            <a:r>
              <a:rPr lang="en-US" sz="2000" b="0" strike="noStrike" spc="-1" dirty="0" err="1">
                <a:solidFill>
                  <a:srgbClr val="000000"/>
                </a:solidFill>
                <a:ea typeface="Verdana"/>
              </a:rPr>
              <a:t>QCar</a:t>
            </a:r>
            <a:endParaRPr lang="en-US" sz="2000" b="0" strike="noStrike" spc="-1" dirty="0">
              <a:solidFill>
                <a:srgbClr val="000000"/>
              </a:solidFill>
              <a:ea typeface="Verdana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000" b="0" strike="noStrike" spc="-1" dirty="0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Connection to the milestones:</a:t>
            </a:r>
            <a:endParaRPr lang="en-US" sz="20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Verdana"/>
              </a:rPr>
              <a:t>M7: Simulation stack complete; hardware integration initiated</a:t>
            </a:r>
            <a:endParaRPr lang="en-US" sz="2000" b="0" strike="noStrike" spc="-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AF1D-5C26-BB02-1AED-6FB06BAB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>
            <a:extLst>
              <a:ext uri="{FF2B5EF4-FFF2-40B4-BE49-F238E27FC236}">
                <a16:creationId xmlns:a16="http://schemas.microsoft.com/office/drawing/2014/main" id="{9742EBE8-1C53-2F79-4094-9153488642C5}"/>
              </a:ext>
            </a:extLst>
          </p:cNvPr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Progress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54" name="Picture 5" descr="I:\arrow.GIF">
            <a:extLst>
              <a:ext uri="{FF2B5EF4-FFF2-40B4-BE49-F238E27FC236}">
                <a16:creationId xmlns:a16="http://schemas.microsoft.com/office/drawing/2014/main" id="{5F9DE037-AB27-7F05-29BF-57CEC9BEAE0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5" name="CustomShape 2">
            <a:extLst>
              <a:ext uri="{FF2B5EF4-FFF2-40B4-BE49-F238E27FC236}">
                <a16:creationId xmlns:a16="http://schemas.microsoft.com/office/drawing/2014/main" id="{57D00806-A735-875F-F8C3-EB6DE58C90C6}"/>
              </a:ext>
            </a:extLst>
          </p:cNvPr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B89A58C-5836-431C-9826-5B53054788E4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6" name="CustomShape 3">
            <a:extLst>
              <a:ext uri="{FF2B5EF4-FFF2-40B4-BE49-F238E27FC236}">
                <a16:creationId xmlns:a16="http://schemas.microsoft.com/office/drawing/2014/main" id="{DB790E59-1F6B-E7C9-F7E3-C68EC67961AA}"/>
              </a:ext>
            </a:extLst>
          </p:cNvPr>
          <p:cNvSpPr/>
          <p:nvPr/>
        </p:nvSpPr>
        <p:spPr>
          <a:xfrm>
            <a:off x="319680" y="995400"/>
            <a:ext cx="6280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Work completed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7" name="CustomShape 4">
            <a:extLst>
              <a:ext uri="{FF2B5EF4-FFF2-40B4-BE49-F238E27FC236}">
                <a16:creationId xmlns:a16="http://schemas.microsoft.com/office/drawing/2014/main" id="{653B631B-AAD7-8142-89FE-41A6FD2B9B74}"/>
              </a:ext>
            </a:extLst>
          </p:cNvPr>
          <p:cNvSpPr/>
          <p:nvPr/>
        </p:nvSpPr>
        <p:spPr>
          <a:xfrm>
            <a:off x="540360" y="1359720"/>
            <a:ext cx="1124136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Completed tasks</a:t>
            </a:r>
            <a:endParaRPr lang="en-US" sz="1500" b="0" strike="noStrike" spc="-1" dirty="0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T1: Improved goal accuracy - increased minimum turning radius and loosened yaw tolerance; robot now reaches goals almost accurately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T2: Investigated remaining path deviation on tight-turn goals - tested 5 parameters, no single fix found; confirmed it's a geometry limitation of the goal itself, not a software bug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T3: Created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qcar_hardware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package - reference docs, hardware test scripts and integration guide for the physical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Qcar</a:t>
            </a:r>
            <a:endParaRPr lang="en-US" sz="1500" spc="-1" dirty="0">
              <a:solidFill>
                <a:srgbClr val="000000"/>
              </a:solidFill>
              <a:ea typeface="Verdana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T4: Solved ROS2 version conflict -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runs Dashing, dev PC runs Humble; set up a separate native Dashing workspace on the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to avoid compatibility issues</a:t>
            </a: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500" spc="-1" dirty="0">
                <a:solidFill>
                  <a:srgbClr val="000000"/>
                </a:solidFill>
                <a:ea typeface="Verdana"/>
              </a:rPr>
              <a:t>T5: First successful hardware run - physical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connected and driven via keyboard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teleop</a:t>
            </a:r>
            <a:endParaRPr lang="en-US" sz="1500" spc="-1" dirty="0">
              <a:solidFill>
                <a:srgbClr val="000000"/>
              </a:solidFill>
              <a:ea typeface="Verdana"/>
            </a:endParaRPr>
          </a:p>
          <a:p>
            <a:pPr marL="458280" lvl="1">
              <a:lnSpc>
                <a:spcPct val="100000"/>
              </a:lnSpc>
              <a:buClr>
                <a:srgbClr val="000000"/>
              </a:buClr>
            </a:pPr>
            <a:endParaRPr lang="en-US" sz="1500" b="0" strike="noStrike" spc="-1" dirty="0">
              <a:solidFill>
                <a:srgbClr val="000000"/>
              </a:solidFill>
              <a:ea typeface="Verdana"/>
            </a:endParaRPr>
          </a:p>
          <a:p>
            <a:pPr marL="458280" lvl="1">
              <a:lnSpc>
                <a:spcPct val="100000"/>
              </a:lnSpc>
              <a:buClr>
                <a:srgbClr val="000000"/>
              </a:buClr>
            </a:pP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Progress: Nav2 setup with </a:t>
            </a:r>
            <a:r>
              <a:rPr lang="en-US" sz="1500" b="0" strike="noStrike" spc="-1" dirty="0" err="1">
                <a:solidFill>
                  <a:srgbClr val="000000"/>
                </a:solidFill>
                <a:ea typeface="Verdana"/>
              </a:rPr>
              <a:t>Smac</a:t>
            </a:r>
            <a:r>
              <a:rPr lang="en-US" sz="1500" b="0" strike="noStrike" spc="-1" dirty="0">
                <a:solidFill>
                  <a:srgbClr val="000000"/>
                </a:solidFill>
                <a:ea typeface="Verdana"/>
              </a:rPr>
              <a:t> global planner + MPPI sampling-based local controller. 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Issues resolved. </a:t>
            </a:r>
            <a:r>
              <a:rPr lang="en-US" sz="1500" spc="-1" dirty="0" err="1">
                <a:solidFill>
                  <a:srgbClr val="000000"/>
                </a:solidFill>
                <a:ea typeface="Verdana"/>
              </a:rPr>
              <a:t>Harware</a:t>
            </a:r>
            <a:r>
              <a:rPr lang="en-US" sz="1500" spc="-1" dirty="0">
                <a:solidFill>
                  <a:srgbClr val="000000"/>
                </a:solidFill>
                <a:ea typeface="Verdana"/>
              </a:rPr>
              <a:t> integration completed and successfully teleoperated the robot.</a:t>
            </a:r>
            <a:endParaRPr lang="en-US" sz="1500" b="0" strike="noStrike" spc="-1" dirty="0"/>
          </a:p>
        </p:txBody>
      </p:sp>
      <p:sp>
        <p:nvSpPr>
          <p:cNvPr id="158" name="CustomShape 5">
            <a:extLst>
              <a:ext uri="{FF2B5EF4-FFF2-40B4-BE49-F238E27FC236}">
                <a16:creationId xmlns:a16="http://schemas.microsoft.com/office/drawing/2014/main" id="{27875722-13E4-F4B1-18D8-5863FDAE6BE0}"/>
              </a:ext>
            </a:extLst>
          </p:cNvPr>
          <p:cNvSpPr/>
          <p:nvPr/>
        </p:nvSpPr>
        <p:spPr>
          <a:xfrm>
            <a:off x="499680" y="4451420"/>
            <a:ext cx="1085760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1600" b="1" strike="noStrike" spc="-1" dirty="0">
                <a:solidFill>
                  <a:srgbClr val="000000"/>
                </a:solidFill>
                <a:ea typeface="DejaVu Sans"/>
              </a:rPr>
              <a:t>Work NOT completed</a:t>
            </a:r>
            <a:endParaRPr lang="en-US" sz="16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Real LiDAR, encoder odometry and stack integration on hardware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SLAM on real hardware - not yet run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Humble-tuned Nav2/MPPI stack can't run natively on </a:t>
            </a:r>
            <a:r>
              <a:rPr lang="en-US" sz="1600" b="0" strike="noStrike" spc="-1" dirty="0" err="1"/>
              <a:t>QCar's</a:t>
            </a:r>
            <a:r>
              <a:rPr lang="en-US" sz="1600" b="0" strike="noStrike" spc="-1" dirty="0"/>
              <a:t> Dashing workspace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/>
              <a:t>Planned resolution: Docker to run Humble-based navigation stack in a container on the </a:t>
            </a:r>
            <a:r>
              <a:rPr lang="en-US" sz="1600" b="0" strike="noStrike" spc="-1" dirty="0" err="1"/>
              <a:t>QCar</a:t>
            </a:r>
            <a:r>
              <a:rPr lang="en-US" sz="1600" b="0" strike="noStrike" spc="-1" dirty="0"/>
              <a:t>, alongside native Dashing workspace handling direct hardware I/O</a:t>
            </a:r>
          </a:p>
        </p:txBody>
      </p:sp>
    </p:spTree>
    <p:extLst>
      <p:ext uri="{BB962C8B-B14F-4D97-AF65-F5344CB8AC3E}">
        <p14:creationId xmlns:p14="http://schemas.microsoft.com/office/powerpoint/2010/main" val="305261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 for the next 2 weeks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60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61" name="CustomShape 2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C1E2ED7-8A9A-423F-8908-829D1469C5B1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319320" y="1083240"/>
            <a:ext cx="11127458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00000"/>
                </a:solidFill>
                <a:ea typeface="Verdana"/>
              </a:rPr>
              <a:t>Upcoming tasks:</a:t>
            </a:r>
            <a:endParaRPr lang="en-US" sz="18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T1: Set up Docker to run Humble-based Nav2/MPPI stack on/against the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QCar</a:t>
            </a:r>
            <a:endParaRPr lang="en-US" sz="1800" b="0" strike="noStrike" spc="-1" dirty="0">
              <a:solidFill>
                <a:srgbClr val="000000"/>
              </a:solidFill>
              <a:ea typeface="DejaVu Sans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T2: Expand on-device Dashing workspace - real LiDAR node, encoder odometry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T3: Validate </a:t>
            </a:r>
            <a:r>
              <a:rPr lang="en-US" sz="1800" b="0" strike="noStrike" spc="-1" dirty="0" err="1">
                <a:solidFill>
                  <a:srgbClr val="000000"/>
                </a:solidFill>
                <a:ea typeface="DejaVu Sans"/>
              </a:rPr>
              <a:t>teleop</a:t>
            </a: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 more thoroughly - drive/steering response under real load and friction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T4: Run Cartographer/SLAM on real hardware for physical-environment map</a:t>
            </a: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ea typeface="DejaVu Sans"/>
              </a:rPr>
              <a:t>T5: Begin end-to-end testing of Nav2 autonomy stack on hardware via Docker</a:t>
            </a:r>
          </a:p>
        </p:txBody>
      </p:sp>
      <p:sp>
        <p:nvSpPr>
          <p:cNvPr id="163" name="CustomShape 4"/>
          <p:cNvSpPr/>
          <p:nvPr/>
        </p:nvSpPr>
        <p:spPr>
          <a:xfrm>
            <a:off x="525241" y="4013040"/>
            <a:ext cx="10105916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000" b="1" strike="noStrike" spc="-1" dirty="0">
                <a:solidFill>
                  <a:srgbClr val="000000"/>
                </a:solidFill>
                <a:ea typeface="DejaVu Sans"/>
              </a:rPr>
              <a:t>Expected outcomes:</a:t>
            </a:r>
            <a:endParaRPr lang="en-US" sz="20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/>
              <a:t>Successfully able to navigate in physical-environment with </a:t>
            </a:r>
            <a:r>
              <a:rPr lang="en-US" sz="2000" b="0" strike="noStrike" spc="-1" dirty="0" err="1"/>
              <a:t>QCar</a:t>
            </a:r>
            <a:endParaRPr lang="en-US" sz="20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DE" sz="2000" b="0" strike="noStrike" spc="-1" dirty="0">
                <a:solidFill>
                  <a:srgbClr val="000000"/>
                </a:solidFill>
                <a:ea typeface="DejaVu Sans"/>
              </a:rPr>
              <a:t>Milestone:</a:t>
            </a:r>
            <a:endParaRPr lang="en-US" sz="2000" b="0" strike="noStrike" spc="-1" dirty="0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M7: Humble navigation stack running on the physical </a:t>
            </a:r>
            <a:r>
              <a:rPr lang="en-US" sz="2000" b="0" strike="noStrike" spc="-1" dirty="0" err="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via Docker; real sensor integration underway</a:t>
            </a:r>
            <a:endParaRPr lang="en-US" sz="2000" b="0" strike="noStrike" spc="-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2"/>
          <p:cNvSpPr/>
          <p:nvPr/>
        </p:nvSpPr>
        <p:spPr>
          <a:xfrm>
            <a:off x="457200" y="453240"/>
            <a:ext cx="4928506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Results: </a:t>
            </a:r>
            <a:r>
              <a:rPr lang="en-IN" sz="20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QCar</a:t>
            </a:r>
            <a:r>
              <a:rPr lang="en-IN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Hardware Teleoperation 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B4C3E-4D75-0974-B2FD-90613895309E}"/>
              </a:ext>
            </a:extLst>
          </p:cNvPr>
          <p:cNvSpPr txBox="1"/>
          <p:nvPr/>
        </p:nvSpPr>
        <p:spPr>
          <a:xfrm>
            <a:off x="3776158" y="5773918"/>
            <a:ext cx="463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dirty="0">
                <a:hlinkClick r:id="rId2"/>
              </a:rPr>
              <a:t>https://www.youtube.com/watch?v=KhUEylLyjYM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54BA0-A0D0-7A2A-9A43-4E769DC18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41" y="1262216"/>
            <a:ext cx="7704118" cy="4333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869040" y="453240"/>
            <a:ext cx="1709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Issues faced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6432934" y="4341894"/>
            <a:ext cx="3088516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spc="-1" dirty="0">
                <a:latin typeface="Arial"/>
              </a:rPr>
              <a:t>At times take multiple iterations to reroute 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1170064" y="4299840"/>
            <a:ext cx="3425274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Robot deviates from Nav2 planned curved path.</a:t>
            </a:r>
            <a:endParaRPr lang="en-US" sz="1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C141C-E791-84D7-27F7-4C5FC552A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25" y="1028103"/>
            <a:ext cx="3181350" cy="3219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D3A072-BDCD-D61E-7B16-086183B43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60" y="1343571"/>
            <a:ext cx="4229051" cy="2903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79" name="Picture 2" descr="https://scontent-dus1-1.xx.fbcdn.net/v/t31.0-8/479427_393094454061277_801847919_o.jpg?_nc_cat=109&amp;_nc_ht=scontent-dus1-1.xx&amp;oh=98fec9207dda7021b746b9394ff6ba0b&amp;oe=5CE9F3A9"/>
          <p:cNvPicPr/>
          <p:nvPr/>
        </p:nvPicPr>
        <p:blipFill>
          <a:blip r:embed="rId2"/>
          <a:stretch/>
        </p:blipFill>
        <p:spPr>
          <a:xfrm>
            <a:off x="0" y="1121040"/>
            <a:ext cx="8706240" cy="4615560"/>
          </a:xfrm>
          <a:prstGeom prst="rect">
            <a:avLst/>
          </a:prstGeom>
          <a:ln w="0">
            <a:noFill/>
          </a:ln>
        </p:spPr>
      </p:pic>
      <p:sp>
        <p:nvSpPr>
          <p:cNvPr id="180" name="CustomShape 2"/>
          <p:cNvSpPr/>
          <p:nvPr/>
        </p:nvSpPr>
        <p:spPr>
          <a:xfrm>
            <a:off x="0" y="1422720"/>
            <a:ext cx="8759880" cy="136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de-DE" sz="3200" b="1" strike="noStrike" spc="-1">
                <a:solidFill>
                  <a:srgbClr val="FFFFFF"/>
                </a:solidFill>
                <a:latin typeface="Verdana"/>
                <a:ea typeface="DejaVu Sans"/>
              </a:rPr>
              <a:t>Herzlichen Dank für Ihr Interesse!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81" name="CustomShape 3"/>
          <p:cNvSpPr/>
          <p:nvPr/>
        </p:nvSpPr>
        <p:spPr>
          <a:xfrm>
            <a:off x="7836120" y="4483440"/>
            <a:ext cx="435528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Prof. Dr. Dmitrii Dobriborsci</a:t>
            </a:r>
            <a:endParaRPr lang="en-US" sz="14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Dmitrii.dobriborsci@th-deg.de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2" name="CustomShape 4"/>
          <p:cNvSpPr/>
          <p:nvPr/>
        </p:nvSpPr>
        <p:spPr>
          <a:xfrm>
            <a:off x="8992080" y="2126520"/>
            <a:ext cx="304740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Technologie 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Campus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Badstraße 21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93413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www.tc-cham.de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3" name="CustomShape 5"/>
          <p:cNvSpPr/>
          <p:nvPr/>
        </p:nvSpPr>
        <p:spPr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</a:pPr>
            <a:r>
              <a:rPr lang="de-DE" sz="2400" b="1" strike="noStrike" spc="-1">
                <a:solidFill>
                  <a:srgbClr val="403152"/>
                </a:solidFill>
                <a:latin typeface="AvantGarde Md BT"/>
                <a:ea typeface="DejaVu Sans"/>
              </a:rPr>
              <a:t>	</a:t>
            </a:r>
            <a:r>
              <a:rPr lang="de-DE" sz="2400" b="1" strike="noStrike" spc="-1">
                <a:solidFill>
                  <a:srgbClr val="002060"/>
                </a:solidFill>
                <a:latin typeface="AvantGarde Md BT"/>
                <a:ea typeface="DejaVu Sans"/>
              </a:rPr>
              <a:t>KONTAKT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84" name="Picture 5" descr="I:\arrow.GIF"/>
          <p:cNvPicPr/>
          <p:nvPr/>
        </p:nvPicPr>
        <p:blipFill>
          <a:blip r:embed="rId3"/>
          <a:stretch/>
        </p:blipFill>
        <p:spPr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5" name="TextShape 6"/>
          <p:cNvSpPr/>
          <p:nvPr/>
        </p:nvSpPr>
        <p:spPr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5708F17F-82B4-456F-A10B-368DF1986031}" type="slidenum">
              <a:rPr lang="de-DE" sz="1200" b="0" strike="noStrike" spc="-1">
                <a:solidFill>
                  <a:srgbClr val="787878"/>
                </a:solidFill>
                <a:latin typeface="Aptos"/>
                <a:ea typeface="DejaVu Sans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50913</TotalTime>
  <Words>671</Words>
  <Application>Microsoft Office PowerPoint</Application>
  <PresentationFormat>Widescreen</PresentationFormat>
  <Paragraphs>87</Paragraphs>
  <Slides>9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</vt:lpstr>
      <vt:lpstr>Arial</vt:lpstr>
      <vt:lpstr>AvantGarde Bk BT</vt:lpstr>
      <vt:lpstr>AvantGarde Md BT</vt:lpstr>
      <vt:lpstr>DejaVu Sans</vt:lpstr>
      <vt:lpstr>Symbol</vt:lpstr>
      <vt:lpstr>Times New Roman</vt:lpstr>
      <vt:lpstr>Verdana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dc:description/>
  <cp:lastModifiedBy>Amit Sajeev</cp:lastModifiedBy>
  <cp:revision>54</cp:revision>
  <cp:lastPrinted>2025-01-26T21:13:28Z</cp:lastPrinted>
  <dcterms:created xsi:type="dcterms:W3CDTF">2019-09-09T12:43:43Z</dcterms:created>
  <dcterms:modified xsi:type="dcterms:W3CDTF">2026-08-03T06:27:35Z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6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9</vt:i4>
  </property>
</Properties>
</file>